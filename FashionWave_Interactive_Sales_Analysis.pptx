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4"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C1B5"/>
    <a:srgbClr val="0B323B"/>
    <a:srgbClr val="E6E6E6"/>
    <a:srgbClr val="0E3D4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1" d="100"/>
          <a:sy n="81" d="100"/>
        </p:scale>
        <p:origin x="725"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si Sinha" userId="6d2ee3ed8000688d" providerId="LiveId" clId="{30320C3A-C169-4687-9D21-099E02D04FDD}"/>
    <pc:docChg chg="custSel modSld">
      <pc:chgData name="Mansi Sinha" userId="6d2ee3ed8000688d" providerId="LiveId" clId="{30320C3A-C169-4687-9D21-099E02D04FDD}" dt="2026-10-28T17:02:25.371" v="18" actId="20577"/>
      <pc:docMkLst>
        <pc:docMk/>
      </pc:docMkLst>
      <pc:sldChg chg="delSp modSp mod">
        <pc:chgData name="Mansi Sinha" userId="6d2ee3ed8000688d" providerId="LiveId" clId="{30320C3A-C169-4687-9D21-099E02D04FDD}" dt="2026-10-28T17:02:25.371" v="18" actId="20577"/>
        <pc:sldMkLst>
          <pc:docMk/>
          <pc:sldMk cId="0" sldId="256"/>
        </pc:sldMkLst>
        <pc:spChg chg="mod">
          <ac:chgData name="Mansi Sinha" userId="6d2ee3ed8000688d" providerId="LiveId" clId="{30320C3A-C169-4687-9D21-099E02D04FDD}" dt="2026-10-28T17:02:25.371" v="18" actId="20577"/>
          <ac:spMkLst>
            <pc:docMk/>
            <pc:sldMk cId="0" sldId="256"/>
            <ac:spMk id="13" creationId="{00000000-0000-0000-0000-000000000000}"/>
          </ac:spMkLst>
        </pc:spChg>
        <pc:spChg chg="del">
          <ac:chgData name="Mansi Sinha" userId="6d2ee3ed8000688d" providerId="LiveId" clId="{30320C3A-C169-4687-9D21-099E02D04FDD}" dt="2026-10-28T17:02:01.950" v="0" actId="478"/>
          <ac:spMkLst>
            <pc:docMk/>
            <pc:sldMk cId="0" sldId="256"/>
            <ac:spMk id="20" creationId="{D49C4855-66F4-59A7-C0D9-71AC39FD2B3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7.svg"/><Relationship Id="rId3" Type="http://schemas.openxmlformats.org/officeDocument/2006/relationships/slide" Target="slide4.xml"/><Relationship Id="rId7" Type="http://schemas.openxmlformats.org/officeDocument/2006/relationships/slide" Target="slide7.xml"/><Relationship Id="rId12" Type="http://schemas.openxmlformats.org/officeDocument/2006/relationships/image" Target="../media/image6.png"/><Relationship Id="rId2" Type="http://schemas.openxmlformats.org/officeDocument/2006/relationships/slide" Target="slide3.xml"/><Relationship Id="rId1" Type="http://schemas.openxmlformats.org/officeDocument/2006/relationships/slideLayout" Target="../slideLayouts/slideLayout7.xml"/><Relationship Id="rId6" Type="http://schemas.openxmlformats.org/officeDocument/2006/relationships/slide" Target="slide8.xml"/><Relationship Id="rId11" Type="http://schemas.openxmlformats.org/officeDocument/2006/relationships/image" Target="../media/image5.svg"/><Relationship Id="rId5" Type="http://schemas.openxmlformats.org/officeDocument/2006/relationships/slide" Target="slide6.xml"/><Relationship Id="rId10" Type="http://schemas.openxmlformats.org/officeDocument/2006/relationships/image" Target="../media/image4.png"/><Relationship Id="rId4" Type="http://schemas.openxmlformats.org/officeDocument/2006/relationships/slide" Target="slide5.xml"/><Relationship Id="rId9" Type="http://schemas.openxmlformats.org/officeDocument/2006/relationships/image" Target="../media/image3.svg"/></Relationships>
</file>

<file path=ppt/slides/_rels/slide3.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slide" Target="slide3.xml"/><Relationship Id="rId7" Type="http://schemas.openxmlformats.org/officeDocument/2006/relationships/slide" Target="slide7.xml"/><Relationship Id="rId2" Type="http://schemas.openxmlformats.org/officeDocument/2006/relationships/slide" Target="slide1.xml"/><Relationship Id="rId1" Type="http://schemas.openxmlformats.org/officeDocument/2006/relationships/slideLayout" Target="../slideLayouts/slideLayout7.xml"/><Relationship Id="rId6" Type="http://schemas.openxmlformats.org/officeDocument/2006/relationships/slide" Target="slide6.xml"/><Relationship Id="rId5" Type="http://schemas.openxmlformats.org/officeDocument/2006/relationships/slide" Target="slide5.xml"/><Relationship Id="rId4" Type="http://schemas.openxmlformats.org/officeDocument/2006/relationships/slide" Target="slide4.xml"/></Relationships>
</file>

<file path=ppt/slides/_rels/slide4.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slide" Target="slide3.xml"/><Relationship Id="rId7" Type="http://schemas.openxmlformats.org/officeDocument/2006/relationships/slide" Target="slide7.xml"/><Relationship Id="rId2" Type="http://schemas.openxmlformats.org/officeDocument/2006/relationships/slide" Target="slide1.xml"/><Relationship Id="rId1" Type="http://schemas.openxmlformats.org/officeDocument/2006/relationships/slideLayout" Target="../slideLayouts/slideLayout7.xml"/><Relationship Id="rId6" Type="http://schemas.openxmlformats.org/officeDocument/2006/relationships/slide" Target="slide6.xml"/><Relationship Id="rId5" Type="http://schemas.openxmlformats.org/officeDocument/2006/relationships/slide" Target="slide5.xml"/><Relationship Id="rId10" Type="http://schemas.openxmlformats.org/officeDocument/2006/relationships/image" Target="../media/image9.svg"/><Relationship Id="rId4" Type="http://schemas.openxmlformats.org/officeDocument/2006/relationships/slide" Target="slide4.xml"/><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slide" Target="slide3.xml"/><Relationship Id="rId7" Type="http://schemas.openxmlformats.org/officeDocument/2006/relationships/slide" Target="slide7.xml"/><Relationship Id="rId2" Type="http://schemas.openxmlformats.org/officeDocument/2006/relationships/slide" Target="slide1.xml"/><Relationship Id="rId1" Type="http://schemas.openxmlformats.org/officeDocument/2006/relationships/slideLayout" Target="../slideLayouts/slideLayout7.xml"/><Relationship Id="rId6" Type="http://schemas.openxmlformats.org/officeDocument/2006/relationships/slide" Target="slide6.xml"/><Relationship Id="rId11" Type="http://schemas.openxmlformats.org/officeDocument/2006/relationships/image" Target="../media/image12.svg"/><Relationship Id="rId5" Type="http://schemas.openxmlformats.org/officeDocument/2006/relationships/slide" Target="slide5.xml"/><Relationship Id="rId10" Type="http://schemas.openxmlformats.org/officeDocument/2006/relationships/image" Target="../media/image11.png"/><Relationship Id="rId4" Type="http://schemas.openxmlformats.org/officeDocument/2006/relationships/slide" Target="slide4.xml"/><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slide" Target="slide3.xml"/><Relationship Id="rId7" Type="http://schemas.openxmlformats.org/officeDocument/2006/relationships/slide" Target="slide7.xml"/><Relationship Id="rId2" Type="http://schemas.openxmlformats.org/officeDocument/2006/relationships/slide" Target="slide1.xml"/><Relationship Id="rId1" Type="http://schemas.openxmlformats.org/officeDocument/2006/relationships/slideLayout" Target="../slideLayouts/slideLayout7.xml"/><Relationship Id="rId6" Type="http://schemas.openxmlformats.org/officeDocument/2006/relationships/slide" Target="slide6.xml"/><Relationship Id="rId11" Type="http://schemas.openxmlformats.org/officeDocument/2006/relationships/image" Target="../media/image15.svg"/><Relationship Id="rId5" Type="http://schemas.openxmlformats.org/officeDocument/2006/relationships/slide" Target="slide5.xml"/><Relationship Id="rId10" Type="http://schemas.openxmlformats.org/officeDocument/2006/relationships/image" Target="../media/image14.png"/><Relationship Id="rId4" Type="http://schemas.openxmlformats.org/officeDocument/2006/relationships/slide" Target="slide4.xml"/><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slide" Target="slide3.xml"/><Relationship Id="rId7" Type="http://schemas.openxmlformats.org/officeDocument/2006/relationships/slide" Target="slide7.xml"/><Relationship Id="rId2" Type="http://schemas.openxmlformats.org/officeDocument/2006/relationships/slide" Target="slide1.xml"/><Relationship Id="rId1" Type="http://schemas.openxmlformats.org/officeDocument/2006/relationships/slideLayout" Target="../slideLayouts/slideLayout7.xml"/><Relationship Id="rId6" Type="http://schemas.openxmlformats.org/officeDocument/2006/relationships/slide" Target="slide6.xml"/><Relationship Id="rId11" Type="http://schemas.openxmlformats.org/officeDocument/2006/relationships/image" Target="../media/image18.svg"/><Relationship Id="rId5" Type="http://schemas.openxmlformats.org/officeDocument/2006/relationships/slide" Target="slide5.xml"/><Relationship Id="rId10" Type="http://schemas.openxmlformats.org/officeDocument/2006/relationships/image" Target="../media/image17.png"/><Relationship Id="rId4" Type="http://schemas.openxmlformats.org/officeDocument/2006/relationships/slide" Target="slide4.xml"/><Relationship Id="rId9" Type="http://schemas.openxmlformats.org/officeDocument/2006/relationships/image" Target="../media/image16.png"/></Relationships>
</file>

<file path=ppt/slides/_rels/slide8.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slide" Target="slide3.xml"/><Relationship Id="rId7" Type="http://schemas.openxmlformats.org/officeDocument/2006/relationships/slide" Target="slide7.xml"/><Relationship Id="rId2" Type="http://schemas.openxmlformats.org/officeDocument/2006/relationships/slide" Target="slide1.xml"/><Relationship Id="rId1" Type="http://schemas.openxmlformats.org/officeDocument/2006/relationships/slideLayout" Target="../slideLayouts/slideLayout7.xml"/><Relationship Id="rId6" Type="http://schemas.openxmlformats.org/officeDocument/2006/relationships/slide" Target="slide6.xml"/><Relationship Id="rId5" Type="http://schemas.openxmlformats.org/officeDocument/2006/relationships/slide" Target="slide5.xml"/><Relationship Id="rId4" Type="http://schemas.openxmlformats.org/officeDocument/2006/relationships/slide" Target="slide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1C26"/>
        </a:solidFill>
        <a:effectLst/>
      </p:bgPr>
    </p:bg>
    <p:spTree>
      <p:nvGrpSpPr>
        <p:cNvPr id="1" name=""/>
        <p:cNvGrpSpPr/>
        <p:nvPr/>
      </p:nvGrpSpPr>
      <p:grpSpPr>
        <a:xfrm>
          <a:off x="0" y="0"/>
          <a:ext cx="0" cy="0"/>
          <a:chOff x="0" y="0"/>
          <a:chExt cx="0" cy="0"/>
        </a:xfrm>
      </p:grpSpPr>
      <p:sp>
        <p:nvSpPr>
          <p:cNvPr id="2" name="Rectangle 1"/>
          <p:cNvSpPr/>
          <p:nvPr/>
        </p:nvSpPr>
        <p:spPr>
          <a:xfrm>
            <a:off x="7687244" y="1768"/>
            <a:ext cx="4507992" cy="6858000"/>
          </a:xfrm>
          <a:prstGeom prst="rect">
            <a:avLst/>
          </a:prstGeom>
          <a:solidFill>
            <a:srgbClr val="0A303B"/>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lang="en-US" b="1" dirty="0"/>
          </a:p>
        </p:txBody>
      </p:sp>
      <p:sp>
        <p:nvSpPr>
          <p:cNvPr id="3" name="Rounded Rectangle 2"/>
          <p:cNvSpPr/>
          <p:nvPr/>
        </p:nvSpPr>
        <p:spPr>
          <a:xfrm>
            <a:off x="8001002" y="958204"/>
            <a:ext cx="2696066" cy="731520"/>
          </a:xfrm>
          <a:prstGeom prst="roundRect">
            <a:avLst>
              <a:gd name="adj" fmla="val 12000"/>
            </a:avLst>
          </a:prstGeom>
          <a:solidFill>
            <a:srgbClr val="1FC1B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lang="en-US" dirty="0"/>
          </a:p>
          <a:p>
            <a:r>
              <a:rPr lang="en-US" dirty="0"/>
              <a:t>Total transactions </a:t>
            </a:r>
            <a:r>
              <a:rPr lang="en-US" b="1" dirty="0"/>
              <a:t>15,000</a:t>
            </a:r>
          </a:p>
          <a:p>
            <a:pPr algn="ctr"/>
            <a:endParaRPr sz="2800" b="1" dirty="0"/>
          </a:p>
        </p:txBody>
      </p:sp>
      <p:sp>
        <p:nvSpPr>
          <p:cNvPr id="4" name="Rounded Rectangle 3"/>
          <p:cNvSpPr/>
          <p:nvPr/>
        </p:nvSpPr>
        <p:spPr>
          <a:xfrm>
            <a:off x="9349035" y="1874519"/>
            <a:ext cx="2011680" cy="731520"/>
          </a:xfrm>
          <a:prstGeom prst="roundRect">
            <a:avLst>
              <a:gd name="adj" fmla="val 12000"/>
            </a:avLst>
          </a:prstGeom>
          <a:solidFill>
            <a:srgbClr val="F2CA4A"/>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US" sz="1600" dirty="0"/>
              <a:t>Stores analyzed </a:t>
            </a:r>
            <a:r>
              <a:rPr lang="en-US" sz="1600" b="1" dirty="0"/>
              <a:t>50</a:t>
            </a:r>
          </a:p>
        </p:txBody>
      </p:sp>
      <p:sp>
        <p:nvSpPr>
          <p:cNvPr id="5" name="Rounded Rectangle 4"/>
          <p:cNvSpPr/>
          <p:nvPr/>
        </p:nvSpPr>
        <p:spPr>
          <a:xfrm>
            <a:off x="7955279" y="2834640"/>
            <a:ext cx="3108960" cy="731520"/>
          </a:xfrm>
          <a:prstGeom prst="roundRect">
            <a:avLst>
              <a:gd name="adj" fmla="val 12000"/>
            </a:avLst>
          </a:prstGeom>
          <a:solidFill>
            <a:srgbClr val="FF8E73"/>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lang="en-US" dirty="0"/>
          </a:p>
          <a:p>
            <a:r>
              <a:rPr lang="en-US" dirty="0"/>
              <a:t>        Net sales </a:t>
            </a:r>
            <a:r>
              <a:rPr lang="en-US" b="1" dirty="0"/>
              <a:t>192.98M</a:t>
            </a:r>
          </a:p>
          <a:p>
            <a:pPr algn="ctr"/>
            <a:endParaRPr dirty="0"/>
          </a:p>
        </p:txBody>
      </p:sp>
      <p:sp>
        <p:nvSpPr>
          <p:cNvPr id="6" name="Rounded Rectangle 5"/>
          <p:cNvSpPr/>
          <p:nvPr/>
        </p:nvSpPr>
        <p:spPr>
          <a:xfrm>
            <a:off x="9312270" y="3781797"/>
            <a:ext cx="2286000" cy="731520"/>
          </a:xfrm>
          <a:prstGeom prst="roundRect">
            <a:avLst>
              <a:gd name="adj" fmla="val 12000"/>
            </a:avLst>
          </a:prstGeom>
          <a:solidFill>
            <a:srgbClr val="1FC1B5"/>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US" dirty="0"/>
              <a:t>Total profit </a:t>
            </a:r>
            <a:r>
              <a:rPr lang="en-US" b="1" dirty="0"/>
              <a:t>159.32M</a:t>
            </a:r>
          </a:p>
        </p:txBody>
      </p:sp>
      <p:sp>
        <p:nvSpPr>
          <p:cNvPr id="7" name="Rounded Rectangle 6"/>
          <p:cNvSpPr/>
          <p:nvPr/>
        </p:nvSpPr>
        <p:spPr>
          <a:xfrm>
            <a:off x="7955279" y="4754880"/>
            <a:ext cx="3200400" cy="731520"/>
          </a:xfrm>
          <a:prstGeom prst="roundRect">
            <a:avLst>
              <a:gd name="adj" fmla="val 12000"/>
            </a:avLst>
          </a:prstGeom>
          <a:solidFill>
            <a:srgbClr val="F2CA4A"/>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lang="en-US" dirty="0"/>
          </a:p>
          <a:p>
            <a:r>
              <a:rPr lang="en-US" dirty="0"/>
              <a:t>  Overall profit margin </a:t>
            </a:r>
            <a:r>
              <a:rPr lang="en-US" b="1" dirty="0"/>
              <a:t>72.52%</a:t>
            </a:r>
          </a:p>
          <a:p>
            <a:pPr algn="ctr"/>
            <a:endParaRPr dirty="0"/>
          </a:p>
        </p:txBody>
      </p:sp>
      <p:sp>
        <p:nvSpPr>
          <p:cNvPr id="9" name="TextBox 8"/>
          <p:cNvSpPr txBox="1"/>
          <p:nvPr/>
        </p:nvSpPr>
        <p:spPr>
          <a:xfrm>
            <a:off x="678730" y="1057559"/>
            <a:ext cx="6563318" cy="1144929"/>
          </a:xfrm>
          <a:prstGeom prst="rect">
            <a:avLst/>
          </a:prstGeom>
          <a:noFill/>
        </p:spPr>
        <p:txBody>
          <a:bodyPr wrap="square" lIns="45720" tIns="18288" rIns="45720" bIns="18288" anchor="ctr">
            <a:spAutoFit/>
          </a:bodyPr>
          <a:lstStyle/>
          <a:p>
            <a:pPr algn="l">
              <a:spcAft>
                <a:spcPts val="0"/>
              </a:spcAft>
            </a:pPr>
            <a:r>
              <a:rPr sz="4000" b="1" dirty="0">
                <a:solidFill>
                  <a:srgbClr val="F5F8F8"/>
                </a:solidFill>
                <a:latin typeface="Aptos"/>
              </a:rPr>
              <a:t>FashionWave</a:t>
            </a:r>
            <a:r>
              <a:rPr sz="3200" b="1" dirty="0">
                <a:solidFill>
                  <a:srgbClr val="F5F8F8"/>
                </a:solidFill>
                <a:latin typeface="Aptos"/>
              </a:rPr>
              <a:t>
Retail Sales Analysis</a:t>
            </a:r>
          </a:p>
        </p:txBody>
      </p:sp>
      <p:sp>
        <p:nvSpPr>
          <p:cNvPr id="10" name="TextBox 9"/>
          <p:cNvSpPr txBox="1"/>
          <p:nvPr/>
        </p:nvSpPr>
        <p:spPr>
          <a:xfrm>
            <a:off x="678730" y="2317118"/>
            <a:ext cx="5852160" cy="731520"/>
          </a:xfrm>
          <a:prstGeom prst="rect">
            <a:avLst/>
          </a:prstGeom>
          <a:noFill/>
        </p:spPr>
        <p:txBody>
          <a:bodyPr wrap="square" lIns="45720" tIns="18288" rIns="45720" bIns="18288" anchor="ctr">
            <a:spAutoFit/>
          </a:bodyPr>
          <a:lstStyle/>
          <a:p>
            <a:pPr algn="l">
              <a:spcAft>
                <a:spcPts val="0"/>
              </a:spcAft>
            </a:pPr>
            <a:r>
              <a:rPr sz="1700" b="0" dirty="0">
                <a:solidFill>
                  <a:srgbClr val="ACC4C9"/>
                </a:solidFill>
                <a:latin typeface="Aptos"/>
              </a:rPr>
              <a:t>Turning transaction data into clearer decisions on sales, margin, stores and customer behavior.</a:t>
            </a:r>
          </a:p>
        </p:txBody>
      </p:sp>
      <p:sp>
        <p:nvSpPr>
          <p:cNvPr id="11" name="Rounded Rectangle 10"/>
          <p:cNvSpPr/>
          <p:nvPr/>
        </p:nvSpPr>
        <p:spPr>
          <a:xfrm>
            <a:off x="696170" y="3311971"/>
            <a:ext cx="5120640" cy="713232"/>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87552" y="3528144"/>
            <a:ext cx="4754880" cy="221599"/>
          </a:xfrm>
          <a:prstGeom prst="rect">
            <a:avLst/>
          </a:prstGeom>
          <a:noFill/>
        </p:spPr>
        <p:txBody>
          <a:bodyPr wrap="square" lIns="45720" tIns="18288" rIns="45720" bIns="18288" anchor="ctr">
            <a:spAutoFit/>
          </a:bodyPr>
          <a:lstStyle/>
          <a:p>
            <a:pPr algn="l">
              <a:spcAft>
                <a:spcPts val="0"/>
              </a:spcAft>
            </a:pPr>
            <a:r>
              <a:rPr sz="1200" b="1" dirty="0">
                <a:solidFill>
                  <a:srgbClr val="F5F8F8"/>
                </a:solidFill>
                <a:latin typeface="Aptos"/>
              </a:rPr>
              <a:t>Dataset: fashionwave_sales</a:t>
            </a:r>
          </a:p>
        </p:txBody>
      </p:sp>
      <p:sp>
        <p:nvSpPr>
          <p:cNvPr id="13" name="TextBox 12"/>
          <p:cNvSpPr txBox="1"/>
          <p:nvPr/>
        </p:nvSpPr>
        <p:spPr>
          <a:xfrm>
            <a:off x="809008" y="4465212"/>
            <a:ext cx="5760720" cy="313932"/>
          </a:xfrm>
          <a:prstGeom prst="rect">
            <a:avLst/>
          </a:prstGeom>
          <a:noFill/>
        </p:spPr>
        <p:txBody>
          <a:bodyPr wrap="square" lIns="45720" tIns="18288" rIns="45720" bIns="18288" anchor="ctr">
            <a:spAutoFit/>
          </a:bodyPr>
          <a:lstStyle/>
          <a:p>
            <a:pPr algn="l">
              <a:spcAft>
                <a:spcPts val="0"/>
              </a:spcAft>
            </a:pPr>
            <a:r>
              <a:rPr lang="en-US" b="1" dirty="0">
                <a:solidFill>
                  <a:srgbClr val="1FC1B5"/>
                </a:solidFill>
                <a:latin typeface="Aptos"/>
              </a:rPr>
              <a:t>November 2023 </a:t>
            </a:r>
            <a:r>
              <a:rPr lang="en-US" b="1">
                <a:solidFill>
                  <a:srgbClr val="1FC1B5"/>
                </a:solidFill>
                <a:latin typeface="Aptos"/>
              </a:rPr>
              <a:t>– November </a:t>
            </a:r>
            <a:r>
              <a:rPr lang="en-US" b="1" dirty="0">
                <a:solidFill>
                  <a:srgbClr val="1FC1B5"/>
                </a:solidFill>
                <a:latin typeface="Aptos"/>
              </a:rPr>
              <a:t>2025</a:t>
            </a:r>
            <a:endParaRPr b="1" dirty="0">
              <a:solidFill>
                <a:srgbClr val="1FC1B5"/>
              </a:solidFill>
              <a:latin typeface="Aptos"/>
            </a:endParaRPr>
          </a:p>
        </p:txBody>
      </p:sp>
      <p:sp>
        <p:nvSpPr>
          <p:cNvPr id="14" name="TextBox 13"/>
          <p:cNvSpPr txBox="1"/>
          <p:nvPr/>
        </p:nvSpPr>
        <p:spPr>
          <a:xfrm>
            <a:off x="8138160" y="6046235"/>
            <a:ext cx="3474720" cy="206210"/>
          </a:xfrm>
          <a:prstGeom prst="rect">
            <a:avLst/>
          </a:prstGeom>
          <a:noFill/>
        </p:spPr>
        <p:txBody>
          <a:bodyPr wrap="square" lIns="45720" tIns="18288" rIns="45720" bIns="18288" anchor="ctr">
            <a:spAutoFit/>
          </a:bodyPr>
          <a:lstStyle/>
          <a:p>
            <a:pPr algn="ctr">
              <a:spcAft>
                <a:spcPts val="0"/>
              </a:spcAft>
            </a:pPr>
            <a:r>
              <a:rPr sz="1100" b="1" dirty="0">
                <a:solidFill>
                  <a:schemeClr val="bg1">
                    <a:lumMod val="95000"/>
                  </a:schemeClr>
                </a:solidFill>
                <a:latin typeface="Aptos"/>
              </a:rPr>
              <a:t>SALES  •  PROFIT  •  GROWTH</a:t>
            </a:r>
          </a:p>
        </p:txBody>
      </p:sp>
      <p:sp>
        <p:nvSpPr>
          <p:cNvPr id="15" name="TextBox 14"/>
          <p:cNvSpPr txBox="1"/>
          <p:nvPr/>
        </p:nvSpPr>
        <p:spPr>
          <a:xfrm>
            <a:off x="594360" y="6531090"/>
            <a:ext cx="6400800" cy="160044"/>
          </a:xfrm>
          <a:prstGeom prst="rect">
            <a:avLst/>
          </a:prstGeom>
          <a:noFill/>
        </p:spPr>
        <p:txBody>
          <a:bodyPr wrap="square" lIns="45720" tIns="18288" rIns="45720" bIns="18288" anchor="ctr">
            <a:spAutoFit/>
          </a:bodyPr>
          <a:lstStyle/>
          <a:p>
            <a:pPr algn="l">
              <a:spcAft>
                <a:spcPts val="0"/>
              </a:spcAft>
            </a:pPr>
            <a:r>
              <a:rPr sz="800" b="0" dirty="0">
                <a:solidFill>
                  <a:srgbClr val="ACC4C9"/>
                </a:solidFill>
                <a:latin typeface="Aptos"/>
              </a:rPr>
              <a:t>FASHIONWAVE  •  RETAIL SALES ANALYSIS</a:t>
            </a:r>
          </a:p>
        </p:txBody>
      </p:sp>
      <p:pic>
        <p:nvPicPr>
          <p:cNvPr id="19" name="Picture 18">
            <a:extLst>
              <a:ext uri="{FF2B5EF4-FFF2-40B4-BE49-F238E27FC236}">
                <a16:creationId xmlns:a16="http://schemas.microsoft.com/office/drawing/2014/main" id="{86DCA98A-A1DE-62DE-F7AC-8E47EF29C6C3}"/>
              </a:ext>
            </a:extLst>
          </p:cNvPr>
          <p:cNvPicPr>
            <a:picLocks noChangeAspect="1"/>
          </p:cNvPicPr>
          <p:nvPr/>
        </p:nvPicPr>
        <p:blipFill>
          <a:blip r:embed="rId2"/>
          <a:srcRect l="6636" t="29141" r="40600" b="50000"/>
          <a:stretch>
            <a:fillRect/>
          </a:stretch>
        </p:blipFill>
        <p:spPr>
          <a:xfrm>
            <a:off x="488966" y="4939858"/>
            <a:ext cx="6433040" cy="1430518"/>
          </a:xfrm>
          <a:prstGeom prst="rect">
            <a:avLst/>
          </a:prstGeom>
        </p:spPr>
      </p:pic>
      <p:sp>
        <p:nvSpPr>
          <p:cNvPr id="22" name="Rounded Rectangle 4">
            <a:extLst>
              <a:ext uri="{FF2B5EF4-FFF2-40B4-BE49-F238E27FC236}">
                <a16:creationId xmlns:a16="http://schemas.microsoft.com/office/drawing/2014/main" id="{4015CD27-8954-7A2F-3D37-7F85BE3BDDCF}"/>
              </a:ext>
            </a:extLst>
          </p:cNvPr>
          <p:cNvSpPr/>
          <p:nvPr/>
        </p:nvSpPr>
        <p:spPr>
          <a:xfrm>
            <a:off x="8595360" y="109036"/>
            <a:ext cx="3108960" cy="731520"/>
          </a:xfrm>
          <a:prstGeom prst="roundRect">
            <a:avLst>
              <a:gd name="adj" fmla="val 12000"/>
            </a:avLst>
          </a:prstGeom>
          <a:solidFill>
            <a:srgbClr val="FF8E73"/>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lang="en-US" dirty="0"/>
          </a:p>
          <a:p>
            <a:r>
              <a:rPr lang="en-US" dirty="0"/>
              <a:t>        Product categories </a:t>
            </a:r>
            <a:r>
              <a:rPr lang="en-US" b="1" dirty="0"/>
              <a:t>3</a:t>
            </a:r>
          </a:p>
          <a:p>
            <a:pPr algn="ct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E3D48"/>
        </a:solidFill>
        <a:effectLst/>
      </p:bgPr>
    </p:bg>
    <p:spTree>
      <p:nvGrpSpPr>
        <p:cNvPr id="1" name="">
          <a:extLst>
            <a:ext uri="{FF2B5EF4-FFF2-40B4-BE49-F238E27FC236}">
              <a16:creationId xmlns:a16="http://schemas.microsoft.com/office/drawing/2014/main" id="{D0BE6AE1-B650-4040-880A-53382548F9C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0212077-3B95-3325-9FE8-0D7813D4FFA3}"/>
              </a:ext>
            </a:extLst>
          </p:cNvPr>
          <p:cNvSpPr txBox="1"/>
          <p:nvPr/>
        </p:nvSpPr>
        <p:spPr>
          <a:xfrm>
            <a:off x="594360" y="517124"/>
            <a:ext cx="10972800" cy="529376"/>
          </a:xfrm>
          <a:prstGeom prst="rect">
            <a:avLst/>
          </a:prstGeom>
          <a:noFill/>
        </p:spPr>
        <p:txBody>
          <a:bodyPr wrap="square" lIns="45720" tIns="18288" rIns="45720" bIns="18288" anchor="ctr">
            <a:spAutoFit/>
          </a:bodyPr>
          <a:lstStyle/>
          <a:p>
            <a:pPr algn="l">
              <a:spcAft>
                <a:spcPts val="0"/>
              </a:spcAft>
            </a:pPr>
            <a:r>
              <a:rPr lang="en-US" sz="3200" b="1" dirty="0">
                <a:solidFill>
                  <a:schemeClr val="bg1"/>
                </a:solidFill>
                <a:latin typeface="Aptos"/>
              </a:rPr>
              <a:t>Project Objectives</a:t>
            </a:r>
            <a:endParaRPr sz="3200" b="1" dirty="0">
              <a:solidFill>
                <a:schemeClr val="bg1"/>
              </a:solidFill>
              <a:latin typeface="Aptos"/>
            </a:endParaRPr>
          </a:p>
        </p:txBody>
      </p:sp>
      <p:sp>
        <p:nvSpPr>
          <p:cNvPr id="5" name="Rounded Rectangle 4">
            <a:extLst>
              <a:ext uri="{FF2B5EF4-FFF2-40B4-BE49-F238E27FC236}">
                <a16:creationId xmlns:a16="http://schemas.microsoft.com/office/drawing/2014/main" id="{AA01477F-E8D8-E08E-9599-373FD6DA9339}"/>
              </a:ext>
            </a:extLst>
          </p:cNvPr>
          <p:cNvSpPr/>
          <p:nvPr/>
        </p:nvSpPr>
        <p:spPr>
          <a:xfrm>
            <a:off x="640080" y="1554480"/>
            <a:ext cx="3347458" cy="4160520"/>
          </a:xfrm>
          <a:prstGeom prst="roundRect">
            <a:avLst>
              <a:gd name="adj" fmla="val 12000"/>
            </a:avLst>
          </a:prstGeom>
          <a:solidFill>
            <a:srgbClr val="0A30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60B11652-F7B6-BEB2-2645-70CD6D798EE9}"/>
              </a:ext>
            </a:extLst>
          </p:cNvPr>
          <p:cNvSpPr txBox="1"/>
          <p:nvPr/>
        </p:nvSpPr>
        <p:spPr>
          <a:xfrm>
            <a:off x="986279" y="2681358"/>
            <a:ext cx="2655059" cy="313932"/>
          </a:xfrm>
          <a:prstGeom prst="rect">
            <a:avLst/>
          </a:prstGeom>
          <a:noFill/>
        </p:spPr>
        <p:txBody>
          <a:bodyPr wrap="square" lIns="45720" tIns="18288" rIns="45720" bIns="18288" anchor="ctr">
            <a:spAutoFit/>
          </a:bodyPr>
          <a:lstStyle/>
          <a:p>
            <a:pPr algn="l">
              <a:spcAft>
                <a:spcPts val="0"/>
              </a:spcAft>
            </a:pPr>
            <a:r>
              <a:rPr lang="en-US" b="1" dirty="0">
                <a:solidFill>
                  <a:srgbClr val="1FC1B5"/>
                </a:solidFill>
                <a:latin typeface="Aptos"/>
              </a:rPr>
              <a:t>Increase weekend sales</a:t>
            </a:r>
            <a:endParaRPr b="1" dirty="0">
              <a:solidFill>
                <a:srgbClr val="1FC1B5"/>
              </a:solidFill>
              <a:latin typeface="Aptos"/>
            </a:endParaRPr>
          </a:p>
        </p:txBody>
      </p:sp>
      <p:sp>
        <p:nvSpPr>
          <p:cNvPr id="18" name="TextBox 17">
            <a:extLst>
              <a:ext uri="{FF2B5EF4-FFF2-40B4-BE49-F238E27FC236}">
                <a16:creationId xmlns:a16="http://schemas.microsoft.com/office/drawing/2014/main" id="{61E85A75-4C81-3FE7-19FA-CB77AA980558}"/>
              </a:ext>
            </a:extLst>
          </p:cNvPr>
          <p:cNvSpPr txBox="1"/>
          <p:nvPr/>
        </p:nvSpPr>
        <p:spPr>
          <a:xfrm>
            <a:off x="872985" y="3846611"/>
            <a:ext cx="2827916" cy="898708"/>
          </a:xfrm>
          <a:prstGeom prst="rect">
            <a:avLst/>
          </a:prstGeom>
          <a:noFill/>
        </p:spPr>
        <p:txBody>
          <a:bodyPr wrap="square" lIns="45720" tIns="18288" rIns="45720" bIns="18288" anchor="ctr">
            <a:spAutoFit/>
          </a:bodyPr>
          <a:lstStyle/>
          <a:p>
            <a:pPr algn="ctr"/>
            <a:r>
              <a:rPr lang="en-US" sz="1400" dirty="0">
                <a:solidFill>
                  <a:schemeClr val="bg1">
                    <a:lumMod val="75000"/>
                  </a:schemeClr>
                </a:solidFill>
              </a:rPr>
              <a:t>Achieve +15% growth in weekend</a:t>
            </a:r>
          </a:p>
          <a:p>
            <a:pPr algn="ctr"/>
            <a:r>
              <a:rPr lang="en-US" sz="1400" dirty="0">
                <a:solidFill>
                  <a:schemeClr val="bg1">
                    <a:lumMod val="75000"/>
                  </a:schemeClr>
                </a:solidFill>
              </a:rPr>
              <a:t>revenue by Q2 2025 through targeted</a:t>
            </a:r>
          </a:p>
          <a:p>
            <a:pPr algn="ctr"/>
            <a:r>
              <a:rPr lang="en-US" sz="1400" dirty="0">
                <a:solidFill>
                  <a:schemeClr val="bg1">
                    <a:lumMod val="75000"/>
                  </a:schemeClr>
                </a:solidFill>
              </a:rPr>
              <a:t>campaigns, events, and loyalty programs</a:t>
            </a:r>
            <a:r>
              <a:rPr lang="en-US" sz="1200" dirty="0">
                <a:solidFill>
                  <a:schemeClr val="bg1">
                    <a:lumMod val="75000"/>
                  </a:schemeClr>
                </a:solidFill>
              </a:rPr>
              <a:t>.</a:t>
            </a:r>
          </a:p>
        </p:txBody>
      </p:sp>
      <p:sp>
        <p:nvSpPr>
          <p:cNvPr id="19" name="Rounded Rectangle 18">
            <a:extLst>
              <a:ext uri="{FF2B5EF4-FFF2-40B4-BE49-F238E27FC236}">
                <a16:creationId xmlns:a16="http://schemas.microsoft.com/office/drawing/2014/main" id="{C376AB4D-B6A7-BB85-1BE5-2DF964812033}"/>
              </a:ext>
            </a:extLst>
          </p:cNvPr>
          <p:cNvSpPr/>
          <p:nvPr/>
        </p:nvSpPr>
        <p:spPr>
          <a:xfrm>
            <a:off x="7937369" y="1554480"/>
            <a:ext cx="3509788" cy="4160520"/>
          </a:xfrm>
          <a:prstGeom prst="roundRect">
            <a:avLst>
              <a:gd name="adj" fmla="val 12000"/>
            </a:avLst>
          </a:prstGeom>
          <a:solidFill>
            <a:srgbClr val="0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8" name="TextBox 27">
            <a:extLst>
              <a:ext uri="{FF2B5EF4-FFF2-40B4-BE49-F238E27FC236}">
                <a16:creationId xmlns:a16="http://schemas.microsoft.com/office/drawing/2014/main" id="{9F293075-6194-8191-2A96-C8493E7E0AEF}"/>
              </a:ext>
            </a:extLst>
          </p:cNvPr>
          <p:cNvSpPr txBox="1"/>
          <p:nvPr/>
        </p:nvSpPr>
        <p:spPr>
          <a:xfrm>
            <a:off x="594360" y="6519672"/>
            <a:ext cx="6400800" cy="182880"/>
          </a:xfrm>
          <a:prstGeom prst="rect">
            <a:avLst/>
          </a:prstGeom>
          <a:noFill/>
        </p:spPr>
        <p:txBody>
          <a:bodyPr wrap="square" lIns="45720" tIns="18288" rIns="45720" bIns="18288" anchor="ctr">
            <a:spAutoFit/>
          </a:bodyPr>
          <a:lstStyle/>
          <a:p>
            <a:pPr algn="l">
              <a:spcAft>
                <a:spcPts val="0"/>
              </a:spcAft>
            </a:pPr>
            <a:r>
              <a:rPr sz="800" b="0" dirty="0">
                <a:solidFill>
                  <a:srgbClr val="ACC4C9"/>
                </a:solidFill>
                <a:latin typeface="Aptos"/>
              </a:rPr>
              <a:t>FASHIONWAVE  •  RETAIL SALES ANALYSIS  •  DASHBOARD-BASED</a:t>
            </a:r>
          </a:p>
        </p:txBody>
      </p:sp>
      <p:sp>
        <p:nvSpPr>
          <p:cNvPr id="29" name="TextBox 28">
            <a:extLst>
              <a:ext uri="{FF2B5EF4-FFF2-40B4-BE49-F238E27FC236}">
                <a16:creationId xmlns:a16="http://schemas.microsoft.com/office/drawing/2014/main" id="{17B48394-46DC-1472-7168-DCDE5E55C0DA}"/>
              </a:ext>
            </a:extLst>
          </p:cNvPr>
          <p:cNvSpPr txBox="1"/>
          <p:nvPr/>
        </p:nvSpPr>
        <p:spPr>
          <a:xfrm>
            <a:off x="11109960" y="6492240"/>
            <a:ext cx="502920" cy="201168"/>
          </a:xfrm>
          <a:prstGeom prst="rect">
            <a:avLst/>
          </a:prstGeom>
          <a:noFill/>
        </p:spPr>
        <p:txBody>
          <a:bodyPr wrap="square" lIns="45720" tIns="18288" rIns="45720" bIns="18288" anchor="ctr">
            <a:spAutoFit/>
          </a:bodyPr>
          <a:lstStyle/>
          <a:p>
            <a:pPr algn="r">
              <a:spcAft>
                <a:spcPts val="0"/>
              </a:spcAft>
            </a:pPr>
            <a:r>
              <a:rPr sz="800" b="0">
                <a:solidFill>
                  <a:srgbClr val="ACC4C9"/>
                </a:solidFill>
                <a:latin typeface="Aptos"/>
              </a:rPr>
              <a:t>07/08</a:t>
            </a:r>
          </a:p>
        </p:txBody>
      </p:sp>
      <p:sp>
        <p:nvSpPr>
          <p:cNvPr id="31" name="Rounded Rectangle 30">
            <a:hlinkClick r:id="rId2" action="ppaction://hlinksldjump"/>
            <a:extLst>
              <a:ext uri="{FF2B5EF4-FFF2-40B4-BE49-F238E27FC236}">
                <a16:creationId xmlns:a16="http://schemas.microsoft.com/office/drawing/2014/main" id="{2A2D2D20-7434-E1A7-8970-DA65E5B20AB6}"/>
              </a:ext>
            </a:extLst>
          </p:cNvPr>
          <p:cNvSpPr/>
          <p:nvPr/>
        </p:nvSpPr>
        <p:spPr>
          <a:xfrm>
            <a:off x="4690872" y="6144768"/>
            <a:ext cx="914400"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Categories</a:t>
            </a:r>
          </a:p>
        </p:txBody>
      </p:sp>
      <p:sp>
        <p:nvSpPr>
          <p:cNvPr id="32" name="Rounded Rectangle 31">
            <a:hlinkClick r:id="rId3" action="ppaction://hlinksldjump"/>
            <a:extLst>
              <a:ext uri="{FF2B5EF4-FFF2-40B4-BE49-F238E27FC236}">
                <a16:creationId xmlns:a16="http://schemas.microsoft.com/office/drawing/2014/main" id="{777CA6E0-1EFC-0EC9-F357-286BAE1ED2C8}"/>
              </a:ext>
            </a:extLst>
          </p:cNvPr>
          <p:cNvSpPr/>
          <p:nvPr/>
        </p:nvSpPr>
        <p:spPr>
          <a:xfrm>
            <a:off x="5678424" y="6144768"/>
            <a:ext cx="841248"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Weekend</a:t>
            </a:r>
          </a:p>
        </p:txBody>
      </p:sp>
      <p:sp>
        <p:nvSpPr>
          <p:cNvPr id="33" name="Rounded Rectangle 32">
            <a:hlinkClick r:id="rId4" action="ppaction://hlinksldjump"/>
            <a:extLst>
              <a:ext uri="{FF2B5EF4-FFF2-40B4-BE49-F238E27FC236}">
                <a16:creationId xmlns:a16="http://schemas.microsoft.com/office/drawing/2014/main" id="{F2F800A8-8AA5-9241-30AB-67010C8E41F9}"/>
              </a:ext>
            </a:extLst>
          </p:cNvPr>
          <p:cNvSpPr/>
          <p:nvPr/>
        </p:nvSpPr>
        <p:spPr>
          <a:xfrm>
            <a:off x="6592824" y="6144768"/>
            <a:ext cx="914400"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Discounts</a:t>
            </a:r>
          </a:p>
        </p:txBody>
      </p:sp>
      <p:sp>
        <p:nvSpPr>
          <p:cNvPr id="34" name="Rounded Rectangle 33">
            <a:hlinkClick r:id="rId5" action="ppaction://hlinksldjump"/>
            <a:extLst>
              <a:ext uri="{FF2B5EF4-FFF2-40B4-BE49-F238E27FC236}">
                <a16:creationId xmlns:a16="http://schemas.microsoft.com/office/drawing/2014/main" id="{F7432A2D-FDB9-5E97-49B4-F8A33F3ECCF5}"/>
              </a:ext>
            </a:extLst>
          </p:cNvPr>
          <p:cNvSpPr/>
          <p:nvPr/>
        </p:nvSpPr>
        <p:spPr>
          <a:xfrm>
            <a:off x="7580375" y="6144768"/>
            <a:ext cx="713232"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Stores</a:t>
            </a:r>
          </a:p>
        </p:txBody>
      </p:sp>
      <p:sp>
        <p:nvSpPr>
          <p:cNvPr id="36" name="Rounded Rectangle 35">
            <a:hlinkClick r:id="rId6" action="ppaction://hlinksldjump"/>
            <a:extLst>
              <a:ext uri="{FF2B5EF4-FFF2-40B4-BE49-F238E27FC236}">
                <a16:creationId xmlns:a16="http://schemas.microsoft.com/office/drawing/2014/main" id="{B07C561D-DD43-97DA-A328-61FD5033E1F0}"/>
              </a:ext>
            </a:extLst>
          </p:cNvPr>
          <p:cNvSpPr/>
          <p:nvPr/>
        </p:nvSpPr>
        <p:spPr>
          <a:xfrm>
            <a:off x="9400032" y="6144768"/>
            <a:ext cx="749808"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Actions</a:t>
            </a:r>
          </a:p>
        </p:txBody>
      </p:sp>
      <p:sp>
        <p:nvSpPr>
          <p:cNvPr id="37" name="Rounded Rectangle 34">
            <a:hlinkClick r:id="rId7" action="ppaction://hlinksldjump"/>
            <a:extLst>
              <a:ext uri="{FF2B5EF4-FFF2-40B4-BE49-F238E27FC236}">
                <a16:creationId xmlns:a16="http://schemas.microsoft.com/office/drawing/2014/main" id="{94B86C5F-F70A-7763-9BD5-F4EA6BA5A549}"/>
              </a:ext>
            </a:extLst>
          </p:cNvPr>
          <p:cNvSpPr/>
          <p:nvPr/>
        </p:nvSpPr>
        <p:spPr>
          <a:xfrm>
            <a:off x="3651506" y="6141720"/>
            <a:ext cx="960120" cy="310896"/>
          </a:xfrm>
          <a:prstGeom prst="roundRect">
            <a:avLst>
              <a:gd name="adj" fmla="val 12000"/>
            </a:avLst>
          </a:prstGeom>
          <a:solidFill>
            <a:srgbClr val="1FC1B5"/>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lang="en-US" sz="900" b="1" dirty="0">
                <a:solidFill>
                  <a:srgbClr val="051C26"/>
                </a:solidFill>
                <a:latin typeface="Aptos"/>
              </a:rPr>
              <a:t>Overview</a:t>
            </a:r>
            <a:endParaRPr sz="900" b="1" dirty="0">
              <a:solidFill>
                <a:srgbClr val="051C26"/>
              </a:solidFill>
              <a:latin typeface="Aptos"/>
            </a:endParaRPr>
          </a:p>
        </p:txBody>
      </p:sp>
      <p:sp>
        <p:nvSpPr>
          <p:cNvPr id="38" name="Rounded Rectangle 35">
            <a:hlinkClick r:id="rId6" action="ppaction://hlinksldjump"/>
            <a:extLst>
              <a:ext uri="{FF2B5EF4-FFF2-40B4-BE49-F238E27FC236}">
                <a16:creationId xmlns:a16="http://schemas.microsoft.com/office/drawing/2014/main" id="{DC639EFB-EC73-7C38-8A24-B19A50880EE2}"/>
              </a:ext>
            </a:extLst>
          </p:cNvPr>
          <p:cNvSpPr/>
          <p:nvPr/>
        </p:nvSpPr>
        <p:spPr>
          <a:xfrm>
            <a:off x="8389620" y="6154540"/>
            <a:ext cx="914399"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lang="en-US" sz="900" b="1" dirty="0">
                <a:solidFill>
                  <a:srgbClr val="F5F8F8"/>
                </a:solidFill>
                <a:latin typeface="Aptos"/>
              </a:rPr>
              <a:t>Customer</a:t>
            </a:r>
            <a:endParaRPr sz="900" b="1" dirty="0">
              <a:solidFill>
                <a:srgbClr val="F5F8F8"/>
              </a:solidFill>
              <a:latin typeface="Aptos"/>
            </a:endParaRPr>
          </a:p>
        </p:txBody>
      </p:sp>
      <p:sp>
        <p:nvSpPr>
          <p:cNvPr id="39" name="Rounded Rectangle 4">
            <a:extLst>
              <a:ext uri="{FF2B5EF4-FFF2-40B4-BE49-F238E27FC236}">
                <a16:creationId xmlns:a16="http://schemas.microsoft.com/office/drawing/2014/main" id="{8AF514C5-55CA-46F3-221D-D2DA06F90E14}"/>
              </a:ext>
            </a:extLst>
          </p:cNvPr>
          <p:cNvSpPr/>
          <p:nvPr/>
        </p:nvSpPr>
        <p:spPr>
          <a:xfrm>
            <a:off x="4261858" y="1552543"/>
            <a:ext cx="3347458" cy="4160520"/>
          </a:xfrm>
          <a:prstGeom prst="roundRect">
            <a:avLst>
              <a:gd name="adj" fmla="val 12000"/>
            </a:avLst>
          </a:prstGeom>
          <a:solidFill>
            <a:srgbClr val="0A30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41" name="Graphic 40" descr="Bullseye">
            <a:extLst>
              <a:ext uri="{FF2B5EF4-FFF2-40B4-BE49-F238E27FC236}">
                <a16:creationId xmlns:a16="http://schemas.microsoft.com/office/drawing/2014/main" id="{B0E665AC-8B4A-96AB-040C-0682348737B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701528" y="1842434"/>
            <a:ext cx="1084101" cy="750520"/>
          </a:xfrm>
          <a:prstGeom prst="rect">
            <a:avLst/>
          </a:prstGeom>
        </p:spPr>
      </p:pic>
      <p:pic>
        <p:nvPicPr>
          <p:cNvPr id="43" name="Graphic 42" descr="Bar graph with upward trend">
            <a:extLst>
              <a:ext uri="{FF2B5EF4-FFF2-40B4-BE49-F238E27FC236}">
                <a16:creationId xmlns:a16="http://schemas.microsoft.com/office/drawing/2014/main" id="{0AEA1CA2-545A-9FDD-6DF3-A540B5F334A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463059" y="1976595"/>
            <a:ext cx="921962" cy="628236"/>
          </a:xfrm>
          <a:prstGeom prst="rect">
            <a:avLst/>
          </a:prstGeom>
        </p:spPr>
      </p:pic>
      <p:pic>
        <p:nvPicPr>
          <p:cNvPr id="45" name="Graphic 44" descr="Lightbulb">
            <a:extLst>
              <a:ext uri="{FF2B5EF4-FFF2-40B4-BE49-F238E27FC236}">
                <a16:creationId xmlns:a16="http://schemas.microsoft.com/office/drawing/2014/main" id="{343EAD11-EAE9-376B-60EA-CC5FCA3726A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211046" y="1950962"/>
            <a:ext cx="962433" cy="641992"/>
          </a:xfrm>
          <a:prstGeom prst="rect">
            <a:avLst/>
          </a:prstGeom>
        </p:spPr>
      </p:pic>
      <p:sp>
        <p:nvSpPr>
          <p:cNvPr id="46" name="TextBox 45">
            <a:extLst>
              <a:ext uri="{FF2B5EF4-FFF2-40B4-BE49-F238E27FC236}">
                <a16:creationId xmlns:a16="http://schemas.microsoft.com/office/drawing/2014/main" id="{873A1527-789D-372A-CF95-B21474FD1BA5}"/>
              </a:ext>
            </a:extLst>
          </p:cNvPr>
          <p:cNvSpPr txBox="1"/>
          <p:nvPr/>
        </p:nvSpPr>
        <p:spPr>
          <a:xfrm>
            <a:off x="4497798" y="3834115"/>
            <a:ext cx="2658359" cy="898708"/>
          </a:xfrm>
          <a:prstGeom prst="rect">
            <a:avLst/>
          </a:prstGeom>
          <a:noFill/>
        </p:spPr>
        <p:txBody>
          <a:bodyPr wrap="square" lIns="45720" tIns="18288" rIns="45720" bIns="18288" anchor="ctr">
            <a:spAutoFit/>
          </a:bodyPr>
          <a:lstStyle/>
          <a:p>
            <a:pPr algn="ctr"/>
            <a:r>
              <a:rPr lang="en-US" sz="1400" dirty="0">
                <a:solidFill>
                  <a:schemeClr val="bg1">
                    <a:lumMod val="75000"/>
                  </a:schemeClr>
                </a:solidFill>
              </a:rPr>
              <a:t>Identify and address unperforming product lines across 50 stores. Target Clothing margin uplift from  63 % to 75%.</a:t>
            </a:r>
          </a:p>
        </p:txBody>
      </p:sp>
      <p:sp>
        <p:nvSpPr>
          <p:cNvPr id="47" name="TextBox 46">
            <a:extLst>
              <a:ext uri="{FF2B5EF4-FFF2-40B4-BE49-F238E27FC236}">
                <a16:creationId xmlns:a16="http://schemas.microsoft.com/office/drawing/2014/main" id="{E1E3ABF9-C483-5501-D3C9-AC4C1EB93942}"/>
              </a:ext>
            </a:extLst>
          </p:cNvPr>
          <p:cNvSpPr txBox="1"/>
          <p:nvPr/>
        </p:nvSpPr>
        <p:spPr>
          <a:xfrm>
            <a:off x="4753230" y="2663717"/>
            <a:ext cx="2655059" cy="313932"/>
          </a:xfrm>
          <a:prstGeom prst="rect">
            <a:avLst/>
          </a:prstGeom>
          <a:noFill/>
        </p:spPr>
        <p:txBody>
          <a:bodyPr wrap="square" lIns="45720" tIns="18288" rIns="45720" bIns="18288" anchor="ctr">
            <a:spAutoFit/>
          </a:bodyPr>
          <a:lstStyle/>
          <a:p>
            <a:pPr algn="l">
              <a:spcAft>
                <a:spcPts val="0"/>
              </a:spcAft>
            </a:pPr>
            <a:r>
              <a:rPr lang="en-US" b="1" dirty="0">
                <a:solidFill>
                  <a:srgbClr val="1FC1B5"/>
                </a:solidFill>
                <a:latin typeface="Aptos"/>
              </a:rPr>
              <a:t>Improve Profitability</a:t>
            </a:r>
            <a:endParaRPr b="1" dirty="0">
              <a:solidFill>
                <a:srgbClr val="1FC1B5"/>
              </a:solidFill>
              <a:latin typeface="Aptos"/>
            </a:endParaRPr>
          </a:p>
        </p:txBody>
      </p:sp>
      <p:sp>
        <p:nvSpPr>
          <p:cNvPr id="48" name="TextBox 47">
            <a:extLst>
              <a:ext uri="{FF2B5EF4-FFF2-40B4-BE49-F238E27FC236}">
                <a16:creationId xmlns:a16="http://schemas.microsoft.com/office/drawing/2014/main" id="{8E643E08-5261-9A8F-9670-C1867267F1D9}"/>
              </a:ext>
            </a:extLst>
          </p:cNvPr>
          <p:cNvSpPr txBox="1"/>
          <p:nvPr/>
        </p:nvSpPr>
        <p:spPr>
          <a:xfrm>
            <a:off x="8550662" y="2659151"/>
            <a:ext cx="2655059" cy="313932"/>
          </a:xfrm>
          <a:prstGeom prst="rect">
            <a:avLst/>
          </a:prstGeom>
          <a:noFill/>
        </p:spPr>
        <p:txBody>
          <a:bodyPr wrap="square" lIns="45720" tIns="18288" rIns="45720" bIns="18288" anchor="ctr">
            <a:spAutoFit/>
          </a:bodyPr>
          <a:lstStyle/>
          <a:p>
            <a:pPr algn="l">
              <a:spcAft>
                <a:spcPts val="0"/>
              </a:spcAft>
            </a:pPr>
            <a:r>
              <a:rPr lang="en-US" b="1" dirty="0">
                <a:solidFill>
                  <a:srgbClr val="1FC1B5"/>
                </a:solidFill>
                <a:latin typeface="Aptos"/>
              </a:rPr>
              <a:t>Optimizing  Discount</a:t>
            </a:r>
            <a:endParaRPr b="1" dirty="0">
              <a:solidFill>
                <a:srgbClr val="1FC1B5"/>
              </a:solidFill>
              <a:latin typeface="Aptos"/>
            </a:endParaRPr>
          </a:p>
        </p:txBody>
      </p:sp>
      <p:sp>
        <p:nvSpPr>
          <p:cNvPr id="49" name="TextBox 48">
            <a:extLst>
              <a:ext uri="{FF2B5EF4-FFF2-40B4-BE49-F238E27FC236}">
                <a16:creationId xmlns:a16="http://schemas.microsoft.com/office/drawing/2014/main" id="{7884A4CB-7969-0070-CFE7-668E26026A1D}"/>
              </a:ext>
            </a:extLst>
          </p:cNvPr>
          <p:cNvSpPr txBox="1"/>
          <p:nvPr/>
        </p:nvSpPr>
        <p:spPr>
          <a:xfrm>
            <a:off x="8261948" y="3834115"/>
            <a:ext cx="2658359" cy="1545038"/>
          </a:xfrm>
          <a:prstGeom prst="rect">
            <a:avLst/>
          </a:prstGeom>
          <a:noFill/>
        </p:spPr>
        <p:txBody>
          <a:bodyPr wrap="square" lIns="45720" tIns="18288" rIns="45720" bIns="18288" anchor="ctr">
            <a:spAutoFit/>
          </a:bodyPr>
          <a:lstStyle/>
          <a:p>
            <a:pPr algn="ctr"/>
            <a:r>
              <a:rPr lang="en-US" sz="1400" dirty="0">
                <a:solidFill>
                  <a:schemeClr val="bg1">
                    <a:lumMod val="75000"/>
                  </a:schemeClr>
                </a:solidFill>
              </a:rPr>
              <a:t>Transactions with discounts above 25% deliver a 64.6% profit margin, compared with 75.4% for transactions without discounts. Review high-discount offers and use targeted promotions to protect profitability.</a:t>
            </a:r>
          </a:p>
        </p:txBody>
      </p:sp>
    </p:spTree>
    <p:extLst>
      <p:ext uri="{BB962C8B-B14F-4D97-AF65-F5344CB8AC3E}">
        <p14:creationId xmlns:p14="http://schemas.microsoft.com/office/powerpoint/2010/main" val="36390377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51C26"/>
        </a:solidFill>
        <a:effectLst/>
      </p:bgPr>
    </p:bg>
    <p:spTree>
      <p:nvGrpSpPr>
        <p:cNvPr id="1" name=""/>
        <p:cNvGrpSpPr/>
        <p:nvPr/>
      </p:nvGrpSpPr>
      <p:grpSpPr>
        <a:xfrm>
          <a:off x="0" y="0"/>
          <a:ext cx="0" cy="0"/>
          <a:chOff x="0" y="0"/>
          <a:chExt cx="0" cy="0"/>
        </a:xfrm>
      </p:grpSpPr>
      <p:sp>
        <p:nvSpPr>
          <p:cNvPr id="3" name="TextBox 2"/>
          <p:cNvSpPr txBox="1"/>
          <p:nvPr/>
        </p:nvSpPr>
        <p:spPr>
          <a:xfrm>
            <a:off x="594360" y="530352"/>
            <a:ext cx="10972800" cy="502920"/>
          </a:xfrm>
          <a:prstGeom prst="rect">
            <a:avLst/>
          </a:prstGeom>
          <a:noFill/>
        </p:spPr>
        <p:txBody>
          <a:bodyPr wrap="square" lIns="45720" tIns="18288" rIns="45720" bIns="18288" anchor="ctr">
            <a:spAutoFit/>
          </a:bodyPr>
          <a:lstStyle/>
          <a:p>
            <a:pPr algn="l">
              <a:spcAft>
                <a:spcPts val="0"/>
              </a:spcAft>
            </a:pPr>
            <a:r>
              <a:rPr sz="2600" b="1" dirty="0">
                <a:solidFill>
                  <a:srgbClr val="F5F8F8"/>
                </a:solidFill>
                <a:latin typeface="Aptos"/>
              </a:rPr>
              <a:t>Accessories lead sales and profit</a:t>
            </a:r>
          </a:p>
        </p:txBody>
      </p:sp>
      <p:sp>
        <p:nvSpPr>
          <p:cNvPr id="4" name="TextBox 3"/>
          <p:cNvSpPr txBox="1"/>
          <p:nvPr/>
        </p:nvSpPr>
        <p:spPr>
          <a:xfrm>
            <a:off x="621792" y="963953"/>
            <a:ext cx="10972800" cy="467820"/>
          </a:xfrm>
          <a:prstGeom prst="rect">
            <a:avLst/>
          </a:prstGeom>
          <a:noFill/>
        </p:spPr>
        <p:txBody>
          <a:bodyPr wrap="square" lIns="45720" tIns="18288" rIns="45720" bIns="18288" anchor="ctr">
            <a:spAutoFit/>
          </a:bodyPr>
          <a:lstStyle/>
          <a:p>
            <a:r>
              <a:rPr lang="en-US" sz="1400" dirty="0">
                <a:solidFill>
                  <a:schemeClr val="bg1">
                    <a:lumMod val="95000"/>
                  </a:schemeClr>
                </a:solidFill>
              </a:rPr>
              <a:t>Accessories is the strongest category, contributing approximately 42.8% of total net sales and generating the highest profit margin. Clothing has the lowest revenue and weakest margin, despite having the most transactions.</a:t>
            </a:r>
            <a:endParaRPr sz="1400" b="0" dirty="0">
              <a:solidFill>
                <a:schemeClr val="bg1">
                  <a:lumMod val="95000"/>
                </a:schemeClr>
              </a:solidFill>
              <a:latin typeface="Aptos"/>
            </a:endParaRPr>
          </a:p>
        </p:txBody>
      </p:sp>
      <p:sp>
        <p:nvSpPr>
          <p:cNvPr id="5" name="Rounded Rectangle 4"/>
          <p:cNvSpPr/>
          <p:nvPr/>
        </p:nvSpPr>
        <p:spPr>
          <a:xfrm>
            <a:off x="640080" y="2185416"/>
            <a:ext cx="5605272" cy="3392423"/>
          </a:xfrm>
          <a:prstGeom prst="roundRect">
            <a:avLst>
              <a:gd name="adj" fmla="val 12000"/>
            </a:avLst>
          </a:prstGeom>
          <a:solidFill>
            <a:srgbClr val="0A30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3440" y="1863957"/>
            <a:ext cx="5120640" cy="292608"/>
          </a:xfrm>
          <a:prstGeom prst="rect">
            <a:avLst/>
          </a:prstGeom>
          <a:noFill/>
        </p:spPr>
        <p:txBody>
          <a:bodyPr wrap="square" lIns="45720" tIns="18288" rIns="45720" bIns="18288" anchor="ctr">
            <a:spAutoFit/>
          </a:bodyPr>
          <a:lstStyle/>
          <a:p>
            <a:pPr algn="l">
              <a:spcAft>
                <a:spcPts val="0"/>
              </a:spcAft>
            </a:pPr>
            <a:r>
              <a:rPr sz="1300" b="1" dirty="0">
                <a:solidFill>
                  <a:srgbClr val="F5F8F8"/>
                </a:solidFill>
                <a:latin typeface="Aptos"/>
              </a:rPr>
              <a:t>Total Sales by Category</a:t>
            </a:r>
          </a:p>
        </p:txBody>
      </p:sp>
      <p:cxnSp>
        <p:nvCxnSpPr>
          <p:cNvPr id="7" name="Connector 6"/>
          <p:cNvCxnSpPr/>
          <p:nvPr/>
        </p:nvCxnSpPr>
        <p:spPr>
          <a:xfrm>
            <a:off x="868680" y="4453128"/>
            <a:ext cx="5029200" cy="0"/>
          </a:xfrm>
          <a:prstGeom prst="line">
            <a:avLst/>
          </a:prstGeom>
          <a:ln w="6350">
            <a:solidFill>
              <a:srgbClr val="27525B"/>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68680" y="3675887"/>
            <a:ext cx="5029200" cy="0"/>
          </a:xfrm>
          <a:prstGeom prst="line">
            <a:avLst/>
          </a:prstGeom>
          <a:ln w="6350">
            <a:solidFill>
              <a:srgbClr val="27525B"/>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68680" y="2898648"/>
            <a:ext cx="5029200" cy="0"/>
          </a:xfrm>
          <a:prstGeom prst="line">
            <a:avLst/>
          </a:prstGeom>
          <a:ln w="6350">
            <a:solidFill>
              <a:srgbClr val="27525B"/>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68680" y="2121408"/>
            <a:ext cx="5029200" cy="0"/>
          </a:xfrm>
          <a:prstGeom prst="line">
            <a:avLst/>
          </a:prstGeom>
          <a:ln w="6350">
            <a:solidFill>
              <a:srgbClr val="27525B"/>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1487423" y="2535936"/>
            <a:ext cx="438912" cy="2694432"/>
          </a:xfrm>
          <a:prstGeom prst="rect">
            <a:avLst/>
          </a:prstGeom>
          <a:solidFill>
            <a:srgbClr val="1FC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377695" y="2307336"/>
            <a:ext cx="658368" cy="201168"/>
          </a:xfrm>
          <a:prstGeom prst="rect">
            <a:avLst/>
          </a:prstGeom>
          <a:noFill/>
        </p:spPr>
        <p:txBody>
          <a:bodyPr wrap="square" lIns="45720" tIns="18288" rIns="45720" bIns="18288" anchor="ctr">
            <a:spAutoFit/>
          </a:bodyPr>
          <a:lstStyle/>
          <a:p>
            <a:pPr algn="ctr">
              <a:spcAft>
                <a:spcPts val="0"/>
              </a:spcAft>
            </a:pPr>
            <a:r>
              <a:rPr sz="800" b="1">
                <a:solidFill>
                  <a:srgbClr val="F5F8F8"/>
                </a:solidFill>
                <a:latin typeface="Aptos"/>
              </a:rPr>
              <a:t>91M</a:t>
            </a:r>
          </a:p>
        </p:txBody>
      </p:sp>
      <p:sp>
        <p:nvSpPr>
          <p:cNvPr id="13" name="TextBox 12"/>
          <p:cNvSpPr txBox="1"/>
          <p:nvPr/>
        </p:nvSpPr>
        <p:spPr>
          <a:xfrm>
            <a:off x="868680" y="5266944"/>
            <a:ext cx="1676400" cy="219456"/>
          </a:xfrm>
          <a:prstGeom prst="rect">
            <a:avLst/>
          </a:prstGeom>
          <a:noFill/>
        </p:spPr>
        <p:txBody>
          <a:bodyPr wrap="square" lIns="45720" tIns="18288" rIns="45720" bIns="18288" anchor="ctr">
            <a:spAutoFit/>
          </a:bodyPr>
          <a:lstStyle/>
          <a:p>
            <a:pPr algn="ctr">
              <a:spcAft>
                <a:spcPts val="0"/>
              </a:spcAft>
            </a:pPr>
            <a:r>
              <a:rPr sz="800" b="0">
                <a:solidFill>
                  <a:srgbClr val="ACC4C9"/>
                </a:solidFill>
                <a:latin typeface="Aptos"/>
              </a:rPr>
              <a:t>Accessories</a:t>
            </a:r>
          </a:p>
        </p:txBody>
      </p:sp>
      <p:sp>
        <p:nvSpPr>
          <p:cNvPr id="14" name="Rectangle 13"/>
          <p:cNvSpPr/>
          <p:nvPr/>
        </p:nvSpPr>
        <p:spPr>
          <a:xfrm>
            <a:off x="3163824" y="3128118"/>
            <a:ext cx="438912" cy="2102249"/>
          </a:xfrm>
          <a:prstGeom prst="rect">
            <a:avLst/>
          </a:prstGeom>
          <a:solidFill>
            <a:srgbClr val="F2C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054096" y="2899518"/>
            <a:ext cx="658368" cy="201168"/>
          </a:xfrm>
          <a:prstGeom prst="rect">
            <a:avLst/>
          </a:prstGeom>
          <a:noFill/>
        </p:spPr>
        <p:txBody>
          <a:bodyPr wrap="square" lIns="45720" tIns="18288" rIns="45720" bIns="18288" anchor="ctr">
            <a:spAutoFit/>
          </a:bodyPr>
          <a:lstStyle/>
          <a:p>
            <a:pPr algn="ctr">
              <a:spcAft>
                <a:spcPts val="0"/>
              </a:spcAft>
            </a:pPr>
            <a:r>
              <a:rPr sz="800" b="1">
                <a:solidFill>
                  <a:srgbClr val="F5F8F8"/>
                </a:solidFill>
                <a:latin typeface="Aptos"/>
              </a:rPr>
              <a:t>71M</a:t>
            </a:r>
          </a:p>
        </p:txBody>
      </p:sp>
      <p:sp>
        <p:nvSpPr>
          <p:cNvPr id="16" name="TextBox 15"/>
          <p:cNvSpPr txBox="1"/>
          <p:nvPr/>
        </p:nvSpPr>
        <p:spPr>
          <a:xfrm>
            <a:off x="2545080" y="5266944"/>
            <a:ext cx="1676400" cy="219456"/>
          </a:xfrm>
          <a:prstGeom prst="rect">
            <a:avLst/>
          </a:prstGeom>
          <a:noFill/>
        </p:spPr>
        <p:txBody>
          <a:bodyPr wrap="square" lIns="45720" tIns="18288" rIns="45720" bIns="18288" anchor="ctr">
            <a:spAutoFit/>
          </a:bodyPr>
          <a:lstStyle/>
          <a:p>
            <a:pPr algn="ctr">
              <a:spcAft>
                <a:spcPts val="0"/>
              </a:spcAft>
            </a:pPr>
            <a:r>
              <a:rPr sz="800" b="0">
                <a:solidFill>
                  <a:srgbClr val="ACC4C9"/>
                </a:solidFill>
                <a:latin typeface="Aptos"/>
              </a:rPr>
              <a:t>Shoes</a:t>
            </a:r>
          </a:p>
        </p:txBody>
      </p:sp>
      <p:sp>
        <p:nvSpPr>
          <p:cNvPr id="17" name="Rectangle 16"/>
          <p:cNvSpPr/>
          <p:nvPr/>
        </p:nvSpPr>
        <p:spPr>
          <a:xfrm>
            <a:off x="4840224" y="3749910"/>
            <a:ext cx="438912" cy="1480457"/>
          </a:xfrm>
          <a:prstGeom prst="rect">
            <a:avLst/>
          </a:prstGeom>
          <a:solidFill>
            <a:srgbClr val="FF8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730496" y="3521310"/>
            <a:ext cx="658368" cy="201168"/>
          </a:xfrm>
          <a:prstGeom prst="rect">
            <a:avLst/>
          </a:prstGeom>
          <a:noFill/>
        </p:spPr>
        <p:txBody>
          <a:bodyPr wrap="square" lIns="45720" tIns="18288" rIns="45720" bIns="18288" anchor="ctr">
            <a:spAutoFit/>
          </a:bodyPr>
          <a:lstStyle/>
          <a:p>
            <a:pPr algn="ctr">
              <a:spcAft>
                <a:spcPts val="0"/>
              </a:spcAft>
            </a:pPr>
            <a:r>
              <a:rPr sz="800" b="1">
                <a:solidFill>
                  <a:srgbClr val="F5F8F8"/>
                </a:solidFill>
                <a:latin typeface="Aptos"/>
              </a:rPr>
              <a:t>50M</a:t>
            </a:r>
          </a:p>
        </p:txBody>
      </p:sp>
      <p:sp>
        <p:nvSpPr>
          <p:cNvPr id="19" name="TextBox 18"/>
          <p:cNvSpPr txBox="1"/>
          <p:nvPr/>
        </p:nvSpPr>
        <p:spPr>
          <a:xfrm>
            <a:off x="4221480" y="5266944"/>
            <a:ext cx="1676400" cy="219456"/>
          </a:xfrm>
          <a:prstGeom prst="rect">
            <a:avLst/>
          </a:prstGeom>
          <a:noFill/>
        </p:spPr>
        <p:txBody>
          <a:bodyPr wrap="square" lIns="45720" tIns="18288" rIns="45720" bIns="18288" anchor="ctr">
            <a:spAutoFit/>
          </a:bodyPr>
          <a:lstStyle/>
          <a:p>
            <a:pPr algn="ctr">
              <a:spcAft>
                <a:spcPts val="0"/>
              </a:spcAft>
            </a:pPr>
            <a:r>
              <a:rPr sz="800" b="0">
                <a:solidFill>
                  <a:srgbClr val="ACC4C9"/>
                </a:solidFill>
                <a:latin typeface="Aptos"/>
              </a:rPr>
              <a:t>Clothing</a:t>
            </a:r>
          </a:p>
        </p:txBody>
      </p:sp>
      <p:sp>
        <p:nvSpPr>
          <p:cNvPr id="20" name="Rounded Rectangle 19"/>
          <p:cNvSpPr/>
          <p:nvPr/>
        </p:nvSpPr>
        <p:spPr>
          <a:xfrm>
            <a:off x="6355080" y="2139694"/>
            <a:ext cx="5196840" cy="3438145"/>
          </a:xfrm>
          <a:prstGeom prst="roundRect">
            <a:avLst>
              <a:gd name="adj" fmla="val 12000"/>
            </a:avLst>
          </a:prstGeom>
          <a:solidFill>
            <a:srgbClr val="0A30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69727" y="1843316"/>
            <a:ext cx="4800600" cy="292608"/>
          </a:xfrm>
          <a:prstGeom prst="rect">
            <a:avLst/>
          </a:prstGeom>
          <a:noFill/>
        </p:spPr>
        <p:txBody>
          <a:bodyPr wrap="square" lIns="45720" tIns="18288" rIns="45720" bIns="18288" anchor="ctr">
            <a:spAutoFit/>
          </a:bodyPr>
          <a:lstStyle/>
          <a:p>
            <a:pPr algn="l">
              <a:spcAft>
                <a:spcPts val="0"/>
              </a:spcAft>
            </a:pPr>
            <a:r>
              <a:rPr sz="1300" b="1" dirty="0">
                <a:solidFill>
                  <a:srgbClr val="F5F8F8"/>
                </a:solidFill>
                <a:latin typeface="Aptos"/>
              </a:rPr>
              <a:t>Total Profit by Category</a:t>
            </a:r>
          </a:p>
        </p:txBody>
      </p:sp>
      <p:cxnSp>
        <p:nvCxnSpPr>
          <p:cNvPr id="22" name="Connector 21"/>
          <p:cNvCxnSpPr/>
          <p:nvPr/>
        </p:nvCxnSpPr>
        <p:spPr>
          <a:xfrm>
            <a:off x="6583680" y="4453128"/>
            <a:ext cx="4709160" cy="0"/>
          </a:xfrm>
          <a:prstGeom prst="line">
            <a:avLst/>
          </a:prstGeom>
          <a:ln w="6350">
            <a:solidFill>
              <a:srgbClr val="27525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583680" y="3675887"/>
            <a:ext cx="4709160" cy="0"/>
          </a:xfrm>
          <a:prstGeom prst="line">
            <a:avLst/>
          </a:prstGeom>
          <a:ln w="6350">
            <a:solidFill>
              <a:srgbClr val="27525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583680" y="2898648"/>
            <a:ext cx="4709160" cy="0"/>
          </a:xfrm>
          <a:prstGeom prst="line">
            <a:avLst/>
          </a:prstGeom>
          <a:ln w="6350">
            <a:solidFill>
              <a:srgbClr val="27525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583680" y="2121408"/>
            <a:ext cx="4709160" cy="0"/>
          </a:xfrm>
          <a:prstGeom prst="line">
            <a:avLst/>
          </a:prstGeom>
          <a:ln w="6350">
            <a:solidFill>
              <a:srgbClr val="27525B"/>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7149084" y="2523744"/>
            <a:ext cx="438912" cy="2706624"/>
          </a:xfrm>
          <a:prstGeom prst="rect">
            <a:avLst/>
          </a:prstGeom>
          <a:solidFill>
            <a:srgbClr val="74D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039356" y="2295144"/>
            <a:ext cx="658368" cy="201168"/>
          </a:xfrm>
          <a:prstGeom prst="rect">
            <a:avLst/>
          </a:prstGeom>
          <a:noFill/>
        </p:spPr>
        <p:txBody>
          <a:bodyPr wrap="square" lIns="45720" tIns="18288" rIns="45720" bIns="18288" anchor="ctr">
            <a:spAutoFit/>
          </a:bodyPr>
          <a:lstStyle/>
          <a:p>
            <a:pPr algn="ctr">
              <a:spcAft>
                <a:spcPts val="0"/>
              </a:spcAft>
            </a:pPr>
            <a:r>
              <a:rPr sz="800" b="1">
                <a:solidFill>
                  <a:srgbClr val="F5F8F8"/>
                </a:solidFill>
                <a:latin typeface="Aptos"/>
              </a:rPr>
              <a:t>74M</a:t>
            </a:r>
          </a:p>
        </p:txBody>
      </p:sp>
      <p:sp>
        <p:nvSpPr>
          <p:cNvPr id="28" name="TextBox 27"/>
          <p:cNvSpPr txBox="1"/>
          <p:nvPr/>
        </p:nvSpPr>
        <p:spPr>
          <a:xfrm>
            <a:off x="6583680" y="5266944"/>
            <a:ext cx="1569720" cy="219456"/>
          </a:xfrm>
          <a:prstGeom prst="rect">
            <a:avLst/>
          </a:prstGeom>
          <a:noFill/>
        </p:spPr>
        <p:txBody>
          <a:bodyPr wrap="square" lIns="45720" tIns="18288" rIns="45720" bIns="18288" anchor="ctr">
            <a:spAutoFit/>
          </a:bodyPr>
          <a:lstStyle/>
          <a:p>
            <a:pPr algn="ctr">
              <a:spcAft>
                <a:spcPts val="0"/>
              </a:spcAft>
            </a:pPr>
            <a:r>
              <a:rPr sz="800" b="0">
                <a:solidFill>
                  <a:srgbClr val="ACC4C9"/>
                </a:solidFill>
                <a:latin typeface="Aptos"/>
              </a:rPr>
              <a:t>Accessories</a:t>
            </a:r>
          </a:p>
        </p:txBody>
      </p:sp>
      <p:sp>
        <p:nvSpPr>
          <p:cNvPr id="29" name="Rectangle 28"/>
          <p:cNvSpPr/>
          <p:nvPr/>
        </p:nvSpPr>
        <p:spPr>
          <a:xfrm>
            <a:off x="8718804" y="3255264"/>
            <a:ext cx="438912" cy="1975104"/>
          </a:xfrm>
          <a:prstGeom prst="rect">
            <a:avLst/>
          </a:prstGeom>
          <a:solidFill>
            <a:srgbClr val="1FC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609076" y="3026664"/>
            <a:ext cx="658368" cy="201168"/>
          </a:xfrm>
          <a:prstGeom prst="rect">
            <a:avLst/>
          </a:prstGeom>
          <a:noFill/>
        </p:spPr>
        <p:txBody>
          <a:bodyPr wrap="square" lIns="45720" tIns="18288" rIns="45720" bIns="18288" anchor="ctr">
            <a:spAutoFit/>
          </a:bodyPr>
          <a:lstStyle/>
          <a:p>
            <a:pPr algn="ctr">
              <a:spcAft>
                <a:spcPts val="0"/>
              </a:spcAft>
            </a:pPr>
            <a:r>
              <a:rPr sz="800" b="1">
                <a:solidFill>
                  <a:srgbClr val="F5F8F8"/>
                </a:solidFill>
                <a:latin typeface="Aptos"/>
              </a:rPr>
              <a:t>54M</a:t>
            </a:r>
          </a:p>
        </p:txBody>
      </p:sp>
      <p:sp>
        <p:nvSpPr>
          <p:cNvPr id="31" name="TextBox 30"/>
          <p:cNvSpPr txBox="1"/>
          <p:nvPr/>
        </p:nvSpPr>
        <p:spPr>
          <a:xfrm>
            <a:off x="8153400" y="5266944"/>
            <a:ext cx="1569720" cy="219456"/>
          </a:xfrm>
          <a:prstGeom prst="rect">
            <a:avLst/>
          </a:prstGeom>
          <a:noFill/>
        </p:spPr>
        <p:txBody>
          <a:bodyPr wrap="square" lIns="45720" tIns="18288" rIns="45720" bIns="18288" anchor="ctr">
            <a:spAutoFit/>
          </a:bodyPr>
          <a:lstStyle/>
          <a:p>
            <a:pPr algn="ctr">
              <a:spcAft>
                <a:spcPts val="0"/>
              </a:spcAft>
            </a:pPr>
            <a:r>
              <a:rPr sz="800" b="0">
                <a:solidFill>
                  <a:srgbClr val="ACC4C9"/>
                </a:solidFill>
                <a:latin typeface="Aptos"/>
              </a:rPr>
              <a:t>Shoes</a:t>
            </a:r>
          </a:p>
        </p:txBody>
      </p:sp>
      <p:sp>
        <p:nvSpPr>
          <p:cNvPr id="32" name="Rectangle 31"/>
          <p:cNvSpPr/>
          <p:nvPr/>
        </p:nvSpPr>
        <p:spPr>
          <a:xfrm>
            <a:off x="10288524" y="4096512"/>
            <a:ext cx="438912" cy="1133856"/>
          </a:xfrm>
          <a:prstGeom prst="rect">
            <a:avLst/>
          </a:prstGeom>
          <a:solidFill>
            <a:srgbClr val="F2C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178796" y="3867912"/>
            <a:ext cx="658368" cy="201168"/>
          </a:xfrm>
          <a:prstGeom prst="rect">
            <a:avLst/>
          </a:prstGeom>
          <a:noFill/>
        </p:spPr>
        <p:txBody>
          <a:bodyPr wrap="square" lIns="45720" tIns="18288" rIns="45720" bIns="18288" anchor="ctr">
            <a:spAutoFit/>
          </a:bodyPr>
          <a:lstStyle/>
          <a:p>
            <a:pPr algn="ctr">
              <a:spcAft>
                <a:spcPts val="0"/>
              </a:spcAft>
            </a:pPr>
            <a:r>
              <a:rPr sz="800" b="1">
                <a:solidFill>
                  <a:srgbClr val="F5F8F8"/>
                </a:solidFill>
                <a:latin typeface="Aptos"/>
              </a:rPr>
              <a:t>31M</a:t>
            </a:r>
          </a:p>
        </p:txBody>
      </p:sp>
      <p:sp>
        <p:nvSpPr>
          <p:cNvPr id="34" name="TextBox 33"/>
          <p:cNvSpPr txBox="1"/>
          <p:nvPr/>
        </p:nvSpPr>
        <p:spPr>
          <a:xfrm>
            <a:off x="9723120" y="5266944"/>
            <a:ext cx="1569720" cy="219456"/>
          </a:xfrm>
          <a:prstGeom prst="rect">
            <a:avLst/>
          </a:prstGeom>
          <a:noFill/>
        </p:spPr>
        <p:txBody>
          <a:bodyPr wrap="square" lIns="45720" tIns="18288" rIns="45720" bIns="18288" anchor="ctr">
            <a:spAutoFit/>
          </a:bodyPr>
          <a:lstStyle/>
          <a:p>
            <a:pPr algn="ctr">
              <a:spcAft>
                <a:spcPts val="0"/>
              </a:spcAft>
            </a:pPr>
            <a:r>
              <a:rPr sz="800" b="0">
                <a:solidFill>
                  <a:srgbClr val="ACC4C9"/>
                </a:solidFill>
                <a:latin typeface="Aptos"/>
              </a:rPr>
              <a:t>Clothing</a:t>
            </a:r>
          </a:p>
        </p:txBody>
      </p:sp>
      <p:sp>
        <p:nvSpPr>
          <p:cNvPr id="35" name="Rounded Rectangle 34"/>
          <p:cNvSpPr/>
          <p:nvPr/>
        </p:nvSpPr>
        <p:spPr>
          <a:xfrm>
            <a:off x="640080" y="5669280"/>
            <a:ext cx="10972800" cy="329184"/>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0079" y="5689396"/>
            <a:ext cx="11068011" cy="252377"/>
          </a:xfrm>
          <a:prstGeom prst="rect">
            <a:avLst/>
          </a:prstGeom>
          <a:noFill/>
        </p:spPr>
        <p:txBody>
          <a:bodyPr wrap="square" lIns="45720" tIns="18288" rIns="45720" bIns="18288" anchor="ctr">
            <a:spAutoFit/>
          </a:bodyPr>
          <a:lstStyle/>
          <a:p>
            <a:r>
              <a:rPr lang="en-US" sz="1400" dirty="0">
                <a:solidFill>
                  <a:schemeClr val="bg1">
                    <a:lumMod val="95000"/>
                  </a:schemeClr>
                </a:solidFill>
              </a:rPr>
              <a:t>Maintain product availability for Accessories, review pricing and costs in Clothing, and investigate which clothing products are selling with low margins.</a:t>
            </a:r>
            <a:endParaRPr sz="1400" b="0" dirty="0">
              <a:solidFill>
                <a:schemeClr val="bg1">
                  <a:lumMod val="95000"/>
                </a:schemeClr>
              </a:solidFill>
              <a:latin typeface="Aptos"/>
            </a:endParaRPr>
          </a:p>
        </p:txBody>
      </p:sp>
      <p:sp>
        <p:nvSpPr>
          <p:cNvPr id="37" name="TextBox 36"/>
          <p:cNvSpPr txBox="1"/>
          <p:nvPr/>
        </p:nvSpPr>
        <p:spPr>
          <a:xfrm>
            <a:off x="594360" y="6531090"/>
            <a:ext cx="6400800" cy="160044"/>
          </a:xfrm>
          <a:prstGeom prst="rect">
            <a:avLst/>
          </a:prstGeom>
          <a:noFill/>
        </p:spPr>
        <p:txBody>
          <a:bodyPr wrap="square" lIns="45720" tIns="18288" rIns="45720" bIns="18288" anchor="ctr">
            <a:spAutoFit/>
          </a:bodyPr>
          <a:lstStyle/>
          <a:p>
            <a:pPr algn="l">
              <a:spcAft>
                <a:spcPts val="0"/>
              </a:spcAft>
            </a:pPr>
            <a:r>
              <a:rPr sz="800" b="0" dirty="0">
                <a:solidFill>
                  <a:srgbClr val="ACC4C9"/>
                </a:solidFill>
                <a:latin typeface="Aptos"/>
              </a:rPr>
              <a:t>FASHIONWAVE  •  RETAIL SALES ANALYSIS  </a:t>
            </a:r>
          </a:p>
        </p:txBody>
      </p:sp>
      <p:sp>
        <p:nvSpPr>
          <p:cNvPr id="39" name="Rounded Rectangle 38">
            <a:hlinkClick r:id="rId2" action="ppaction://hlinksldjump"/>
          </p:cNvPr>
          <p:cNvSpPr/>
          <p:nvPr/>
        </p:nvSpPr>
        <p:spPr>
          <a:xfrm>
            <a:off x="3657600" y="6144768"/>
            <a:ext cx="960120"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Overview</a:t>
            </a:r>
          </a:p>
        </p:txBody>
      </p:sp>
      <p:sp>
        <p:nvSpPr>
          <p:cNvPr id="40" name="Rounded Rectangle 39">
            <a:hlinkClick r:id="rId3" action="ppaction://hlinksldjump"/>
          </p:cNvPr>
          <p:cNvSpPr/>
          <p:nvPr/>
        </p:nvSpPr>
        <p:spPr>
          <a:xfrm>
            <a:off x="4690872" y="6144768"/>
            <a:ext cx="914400" cy="310896"/>
          </a:xfrm>
          <a:prstGeom prst="roundRect">
            <a:avLst>
              <a:gd name="adj" fmla="val 12000"/>
            </a:avLst>
          </a:prstGeom>
          <a:solidFill>
            <a:srgbClr val="1FC1B5"/>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051C26"/>
                </a:solidFill>
                <a:latin typeface="Aptos"/>
              </a:rPr>
              <a:t>Categories</a:t>
            </a:r>
          </a:p>
        </p:txBody>
      </p:sp>
      <p:sp>
        <p:nvSpPr>
          <p:cNvPr id="41" name="Rounded Rectangle 40">
            <a:hlinkClick r:id="rId4" action="ppaction://hlinksldjump"/>
          </p:cNvPr>
          <p:cNvSpPr/>
          <p:nvPr/>
        </p:nvSpPr>
        <p:spPr>
          <a:xfrm>
            <a:off x="5678424" y="6144768"/>
            <a:ext cx="841248"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Weekend</a:t>
            </a:r>
          </a:p>
        </p:txBody>
      </p:sp>
      <p:sp>
        <p:nvSpPr>
          <p:cNvPr id="42" name="Rounded Rectangle 41">
            <a:hlinkClick r:id="rId5" action="ppaction://hlinksldjump"/>
          </p:cNvPr>
          <p:cNvSpPr/>
          <p:nvPr/>
        </p:nvSpPr>
        <p:spPr>
          <a:xfrm>
            <a:off x="6592824" y="6144768"/>
            <a:ext cx="914400"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Discounts</a:t>
            </a:r>
          </a:p>
        </p:txBody>
      </p:sp>
      <p:sp>
        <p:nvSpPr>
          <p:cNvPr id="43" name="Rounded Rectangle 42">
            <a:hlinkClick r:id="rId6" action="ppaction://hlinksldjump"/>
          </p:cNvPr>
          <p:cNvSpPr/>
          <p:nvPr/>
        </p:nvSpPr>
        <p:spPr>
          <a:xfrm>
            <a:off x="7580375" y="6144768"/>
            <a:ext cx="713232"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Stores</a:t>
            </a:r>
          </a:p>
        </p:txBody>
      </p:sp>
      <p:sp>
        <p:nvSpPr>
          <p:cNvPr id="44" name="Rounded Rectangle 43">
            <a:hlinkClick r:id="rId7" action="ppaction://hlinksldjump"/>
          </p:cNvPr>
          <p:cNvSpPr/>
          <p:nvPr/>
        </p:nvSpPr>
        <p:spPr>
          <a:xfrm>
            <a:off x="8366759" y="6144768"/>
            <a:ext cx="960120"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Customers</a:t>
            </a:r>
          </a:p>
        </p:txBody>
      </p:sp>
      <p:sp>
        <p:nvSpPr>
          <p:cNvPr id="45" name="Rounded Rectangle 44">
            <a:hlinkClick r:id="rId8" action="ppaction://hlinksldjump"/>
          </p:cNvPr>
          <p:cNvSpPr/>
          <p:nvPr/>
        </p:nvSpPr>
        <p:spPr>
          <a:xfrm>
            <a:off x="9400032" y="6144768"/>
            <a:ext cx="749808"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Actions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51C26"/>
        </a:solidFill>
        <a:effectLst/>
      </p:bgPr>
    </p:bg>
    <p:spTree>
      <p:nvGrpSpPr>
        <p:cNvPr id="1" name=""/>
        <p:cNvGrpSpPr/>
        <p:nvPr/>
      </p:nvGrpSpPr>
      <p:grpSpPr>
        <a:xfrm>
          <a:off x="0" y="0"/>
          <a:ext cx="0" cy="0"/>
          <a:chOff x="0" y="0"/>
          <a:chExt cx="0" cy="0"/>
        </a:xfrm>
      </p:grpSpPr>
      <p:sp>
        <p:nvSpPr>
          <p:cNvPr id="3" name="TextBox 2"/>
          <p:cNvSpPr txBox="1"/>
          <p:nvPr/>
        </p:nvSpPr>
        <p:spPr>
          <a:xfrm>
            <a:off x="594360" y="530352"/>
            <a:ext cx="10972800" cy="502920"/>
          </a:xfrm>
          <a:prstGeom prst="rect">
            <a:avLst/>
          </a:prstGeom>
          <a:noFill/>
        </p:spPr>
        <p:txBody>
          <a:bodyPr wrap="square" lIns="45720" tIns="18288" rIns="45720" bIns="18288" anchor="ctr">
            <a:spAutoFit/>
          </a:bodyPr>
          <a:lstStyle/>
          <a:p>
            <a:pPr algn="l">
              <a:spcAft>
                <a:spcPts val="0"/>
              </a:spcAft>
            </a:pPr>
            <a:r>
              <a:rPr sz="2600" b="1">
                <a:solidFill>
                  <a:srgbClr val="F5F8F8"/>
                </a:solidFill>
                <a:latin typeface="Aptos"/>
              </a:rPr>
              <a:t>Weekend is the growth opportunity</a:t>
            </a:r>
          </a:p>
        </p:txBody>
      </p:sp>
      <p:sp>
        <p:nvSpPr>
          <p:cNvPr id="4" name="TextBox 3"/>
          <p:cNvSpPr txBox="1"/>
          <p:nvPr/>
        </p:nvSpPr>
        <p:spPr>
          <a:xfrm>
            <a:off x="621792" y="963953"/>
            <a:ext cx="10972800" cy="467820"/>
          </a:xfrm>
          <a:prstGeom prst="rect">
            <a:avLst/>
          </a:prstGeom>
          <a:noFill/>
        </p:spPr>
        <p:txBody>
          <a:bodyPr wrap="square" lIns="45720" tIns="18288" rIns="45720" bIns="18288" anchor="ctr">
            <a:spAutoFit/>
          </a:bodyPr>
          <a:lstStyle/>
          <a:p>
            <a:r>
              <a:rPr lang="en-US" sz="1400" dirty="0">
                <a:solidFill>
                  <a:schemeClr val="bg1"/>
                </a:solidFill>
              </a:rPr>
              <a:t>Weekdays generate more total sales because there are more weekday dates. However, average daily sales are approximately 31.2% higher on weekends, and average sales per transaction are approximately 27.2% higher.</a:t>
            </a:r>
            <a:endParaRPr sz="1400" b="0" dirty="0">
              <a:solidFill>
                <a:schemeClr val="bg1"/>
              </a:solidFill>
              <a:latin typeface="Aptos"/>
            </a:endParaRPr>
          </a:p>
        </p:txBody>
      </p:sp>
      <p:sp>
        <p:nvSpPr>
          <p:cNvPr id="5" name="Rounded Rectangle 4"/>
          <p:cNvSpPr/>
          <p:nvPr/>
        </p:nvSpPr>
        <p:spPr>
          <a:xfrm>
            <a:off x="640080" y="1554480"/>
            <a:ext cx="6400800" cy="4114800"/>
          </a:xfrm>
          <a:prstGeom prst="roundRect">
            <a:avLst>
              <a:gd name="adj" fmla="val 12000"/>
            </a:avLst>
          </a:prstGeom>
          <a:solidFill>
            <a:srgbClr val="0A30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737360"/>
            <a:ext cx="5852160" cy="274320"/>
          </a:xfrm>
          <a:prstGeom prst="rect">
            <a:avLst/>
          </a:prstGeom>
          <a:noFill/>
        </p:spPr>
        <p:txBody>
          <a:bodyPr wrap="square" lIns="45720" tIns="18288" rIns="45720" bIns="18288" anchor="ctr">
            <a:spAutoFit/>
          </a:bodyPr>
          <a:lstStyle/>
          <a:p>
            <a:pPr algn="l">
              <a:spcAft>
                <a:spcPts val="0"/>
              </a:spcAft>
            </a:pPr>
            <a:r>
              <a:rPr sz="1400" b="1">
                <a:solidFill>
                  <a:srgbClr val="F5F8F8"/>
                </a:solidFill>
                <a:latin typeface="Aptos"/>
              </a:rPr>
              <a:t>Weekday vs Weekend Sales by Category</a:t>
            </a:r>
          </a:p>
        </p:txBody>
      </p:sp>
      <p:cxnSp>
        <p:nvCxnSpPr>
          <p:cNvPr id="7" name="Connector 6"/>
          <p:cNvCxnSpPr/>
          <p:nvPr/>
        </p:nvCxnSpPr>
        <p:spPr>
          <a:xfrm>
            <a:off x="1005840" y="4149089"/>
            <a:ext cx="5669280" cy="0"/>
          </a:xfrm>
          <a:prstGeom prst="line">
            <a:avLst/>
          </a:prstGeom>
          <a:ln w="6350">
            <a:solidFill>
              <a:srgbClr val="27525B"/>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05840" y="3543300"/>
            <a:ext cx="5669280" cy="0"/>
          </a:xfrm>
          <a:prstGeom prst="line">
            <a:avLst/>
          </a:prstGeom>
          <a:ln w="6350">
            <a:solidFill>
              <a:srgbClr val="27525B"/>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05840" y="2937510"/>
            <a:ext cx="5669280" cy="0"/>
          </a:xfrm>
          <a:prstGeom prst="line">
            <a:avLst/>
          </a:prstGeom>
          <a:ln w="6350">
            <a:solidFill>
              <a:srgbClr val="27525B"/>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05840" y="2331720"/>
            <a:ext cx="5669280" cy="0"/>
          </a:xfrm>
          <a:prstGeom prst="line">
            <a:avLst/>
          </a:prstGeom>
          <a:ln w="6350">
            <a:solidFill>
              <a:srgbClr val="27525B"/>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1170432" y="2518116"/>
            <a:ext cx="384048" cy="2236763"/>
          </a:xfrm>
          <a:prstGeom prst="rect">
            <a:avLst/>
          </a:prstGeom>
          <a:solidFill>
            <a:srgbClr val="1FC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24712" y="2307804"/>
            <a:ext cx="475488" cy="182880"/>
          </a:xfrm>
          <a:prstGeom prst="rect">
            <a:avLst/>
          </a:prstGeom>
          <a:noFill/>
        </p:spPr>
        <p:txBody>
          <a:bodyPr wrap="square" lIns="45720" tIns="18288" rIns="45720" bIns="18288" anchor="ctr">
            <a:spAutoFit/>
          </a:bodyPr>
          <a:lstStyle/>
          <a:p>
            <a:pPr algn="ctr">
              <a:spcAft>
                <a:spcPts val="0"/>
              </a:spcAft>
            </a:pPr>
            <a:r>
              <a:rPr sz="800" b="1">
                <a:solidFill>
                  <a:srgbClr val="F5F8F8"/>
                </a:solidFill>
                <a:latin typeface="Aptos"/>
              </a:rPr>
              <a:t>60M</a:t>
            </a:r>
          </a:p>
        </p:txBody>
      </p:sp>
      <p:sp>
        <p:nvSpPr>
          <p:cNvPr id="13" name="Rectangle 12"/>
          <p:cNvSpPr/>
          <p:nvPr/>
        </p:nvSpPr>
        <p:spPr>
          <a:xfrm>
            <a:off x="1655064" y="3599219"/>
            <a:ext cx="384048" cy="1155660"/>
          </a:xfrm>
          <a:prstGeom prst="rect">
            <a:avLst/>
          </a:prstGeom>
          <a:solidFill>
            <a:srgbClr val="F2C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09344" y="3388907"/>
            <a:ext cx="475488" cy="182880"/>
          </a:xfrm>
          <a:prstGeom prst="rect">
            <a:avLst/>
          </a:prstGeom>
          <a:noFill/>
        </p:spPr>
        <p:txBody>
          <a:bodyPr wrap="square" lIns="45720" tIns="18288" rIns="45720" bIns="18288" anchor="ctr">
            <a:spAutoFit/>
          </a:bodyPr>
          <a:lstStyle/>
          <a:p>
            <a:pPr algn="ctr">
              <a:spcAft>
                <a:spcPts val="0"/>
              </a:spcAft>
            </a:pPr>
            <a:r>
              <a:rPr sz="800" b="1">
                <a:solidFill>
                  <a:srgbClr val="F5F8F8"/>
                </a:solidFill>
                <a:latin typeface="Aptos"/>
              </a:rPr>
              <a:t>31M</a:t>
            </a:r>
          </a:p>
        </p:txBody>
      </p:sp>
      <p:sp>
        <p:nvSpPr>
          <p:cNvPr id="15" name="TextBox 14"/>
          <p:cNvSpPr txBox="1"/>
          <p:nvPr/>
        </p:nvSpPr>
        <p:spPr>
          <a:xfrm>
            <a:off x="670560" y="4837175"/>
            <a:ext cx="1889760" cy="228600"/>
          </a:xfrm>
          <a:prstGeom prst="rect">
            <a:avLst/>
          </a:prstGeom>
          <a:noFill/>
        </p:spPr>
        <p:txBody>
          <a:bodyPr wrap="square" lIns="45720" tIns="18288" rIns="45720" bIns="18288" anchor="ctr">
            <a:spAutoFit/>
          </a:bodyPr>
          <a:lstStyle/>
          <a:p>
            <a:pPr algn="ctr">
              <a:spcAft>
                <a:spcPts val="0"/>
              </a:spcAft>
            </a:pPr>
            <a:r>
              <a:rPr sz="900" b="0" dirty="0">
                <a:solidFill>
                  <a:srgbClr val="ACC4C9"/>
                </a:solidFill>
                <a:latin typeface="Aptos"/>
              </a:rPr>
              <a:t>Accessories</a:t>
            </a:r>
          </a:p>
        </p:txBody>
      </p:sp>
      <p:sp>
        <p:nvSpPr>
          <p:cNvPr id="16" name="Rectangle 15"/>
          <p:cNvSpPr/>
          <p:nvPr/>
        </p:nvSpPr>
        <p:spPr>
          <a:xfrm>
            <a:off x="3060192" y="3002748"/>
            <a:ext cx="384048" cy="1752131"/>
          </a:xfrm>
          <a:prstGeom prst="rect">
            <a:avLst/>
          </a:prstGeom>
          <a:solidFill>
            <a:srgbClr val="1FC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014472" y="2792436"/>
            <a:ext cx="475488" cy="182880"/>
          </a:xfrm>
          <a:prstGeom prst="rect">
            <a:avLst/>
          </a:prstGeom>
          <a:noFill/>
        </p:spPr>
        <p:txBody>
          <a:bodyPr wrap="square" lIns="45720" tIns="18288" rIns="45720" bIns="18288" anchor="ctr">
            <a:spAutoFit/>
          </a:bodyPr>
          <a:lstStyle/>
          <a:p>
            <a:pPr algn="ctr">
              <a:spcAft>
                <a:spcPts val="0"/>
              </a:spcAft>
            </a:pPr>
            <a:r>
              <a:rPr sz="800" b="1">
                <a:solidFill>
                  <a:srgbClr val="F5F8F8"/>
                </a:solidFill>
                <a:latin typeface="Aptos"/>
              </a:rPr>
              <a:t>47M</a:t>
            </a:r>
          </a:p>
        </p:txBody>
      </p:sp>
      <p:sp>
        <p:nvSpPr>
          <p:cNvPr id="18" name="Rectangle 17"/>
          <p:cNvSpPr/>
          <p:nvPr/>
        </p:nvSpPr>
        <p:spPr>
          <a:xfrm>
            <a:off x="3544824" y="3860174"/>
            <a:ext cx="384048" cy="894705"/>
          </a:xfrm>
          <a:prstGeom prst="rect">
            <a:avLst/>
          </a:prstGeom>
          <a:solidFill>
            <a:srgbClr val="F2C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99104" y="3649862"/>
            <a:ext cx="475488" cy="182880"/>
          </a:xfrm>
          <a:prstGeom prst="rect">
            <a:avLst/>
          </a:prstGeom>
          <a:noFill/>
        </p:spPr>
        <p:txBody>
          <a:bodyPr wrap="square" lIns="45720" tIns="18288" rIns="45720" bIns="18288" anchor="ctr">
            <a:spAutoFit/>
          </a:bodyPr>
          <a:lstStyle/>
          <a:p>
            <a:pPr algn="ctr">
              <a:spcAft>
                <a:spcPts val="0"/>
              </a:spcAft>
            </a:pPr>
            <a:r>
              <a:rPr sz="800" b="1">
                <a:solidFill>
                  <a:srgbClr val="F5F8F8"/>
                </a:solidFill>
                <a:latin typeface="Aptos"/>
              </a:rPr>
              <a:t>24M</a:t>
            </a:r>
          </a:p>
        </p:txBody>
      </p:sp>
      <p:sp>
        <p:nvSpPr>
          <p:cNvPr id="20" name="TextBox 19"/>
          <p:cNvSpPr txBox="1"/>
          <p:nvPr/>
        </p:nvSpPr>
        <p:spPr>
          <a:xfrm>
            <a:off x="2599944" y="4837175"/>
            <a:ext cx="1889760" cy="228600"/>
          </a:xfrm>
          <a:prstGeom prst="rect">
            <a:avLst/>
          </a:prstGeom>
          <a:noFill/>
        </p:spPr>
        <p:txBody>
          <a:bodyPr wrap="square" lIns="45720" tIns="18288" rIns="45720" bIns="18288" anchor="ctr">
            <a:spAutoFit/>
          </a:bodyPr>
          <a:lstStyle/>
          <a:p>
            <a:pPr algn="ctr">
              <a:spcAft>
                <a:spcPts val="0"/>
              </a:spcAft>
            </a:pPr>
            <a:r>
              <a:rPr sz="900" b="0" dirty="0">
                <a:solidFill>
                  <a:srgbClr val="ACC4C9"/>
                </a:solidFill>
                <a:latin typeface="Aptos"/>
              </a:rPr>
              <a:t>Shoes</a:t>
            </a:r>
          </a:p>
        </p:txBody>
      </p:sp>
      <p:sp>
        <p:nvSpPr>
          <p:cNvPr id="21" name="Rectangle 20"/>
          <p:cNvSpPr/>
          <p:nvPr/>
        </p:nvSpPr>
        <p:spPr>
          <a:xfrm>
            <a:off x="4949952" y="3524660"/>
            <a:ext cx="384048" cy="1230219"/>
          </a:xfrm>
          <a:prstGeom prst="rect">
            <a:avLst/>
          </a:prstGeom>
          <a:solidFill>
            <a:srgbClr val="1FC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904232" y="3314348"/>
            <a:ext cx="475488" cy="182880"/>
          </a:xfrm>
          <a:prstGeom prst="rect">
            <a:avLst/>
          </a:prstGeom>
          <a:noFill/>
        </p:spPr>
        <p:txBody>
          <a:bodyPr wrap="square" lIns="45720" tIns="18288" rIns="45720" bIns="18288" anchor="ctr">
            <a:spAutoFit/>
          </a:bodyPr>
          <a:lstStyle/>
          <a:p>
            <a:pPr algn="ctr">
              <a:spcAft>
                <a:spcPts val="0"/>
              </a:spcAft>
            </a:pPr>
            <a:r>
              <a:rPr sz="800" b="1">
                <a:solidFill>
                  <a:srgbClr val="F5F8F8"/>
                </a:solidFill>
                <a:latin typeface="Aptos"/>
              </a:rPr>
              <a:t>33M</a:t>
            </a:r>
          </a:p>
        </p:txBody>
      </p:sp>
      <p:sp>
        <p:nvSpPr>
          <p:cNvPr id="23" name="Rectangle 22"/>
          <p:cNvSpPr/>
          <p:nvPr/>
        </p:nvSpPr>
        <p:spPr>
          <a:xfrm>
            <a:off x="5434584" y="4121130"/>
            <a:ext cx="384048" cy="633749"/>
          </a:xfrm>
          <a:prstGeom prst="rect">
            <a:avLst/>
          </a:prstGeom>
          <a:solidFill>
            <a:srgbClr val="F2C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388864" y="3910818"/>
            <a:ext cx="475488" cy="182880"/>
          </a:xfrm>
          <a:prstGeom prst="rect">
            <a:avLst/>
          </a:prstGeom>
          <a:noFill/>
        </p:spPr>
        <p:txBody>
          <a:bodyPr wrap="square" lIns="45720" tIns="18288" rIns="45720" bIns="18288" anchor="ctr">
            <a:spAutoFit/>
          </a:bodyPr>
          <a:lstStyle/>
          <a:p>
            <a:pPr algn="ctr">
              <a:spcAft>
                <a:spcPts val="0"/>
              </a:spcAft>
            </a:pPr>
            <a:r>
              <a:rPr sz="800" b="1">
                <a:solidFill>
                  <a:srgbClr val="F5F8F8"/>
                </a:solidFill>
                <a:latin typeface="Aptos"/>
              </a:rPr>
              <a:t>17M</a:t>
            </a:r>
          </a:p>
        </p:txBody>
      </p:sp>
      <p:sp>
        <p:nvSpPr>
          <p:cNvPr id="25" name="TextBox 24"/>
          <p:cNvSpPr txBox="1"/>
          <p:nvPr/>
        </p:nvSpPr>
        <p:spPr>
          <a:xfrm>
            <a:off x="4529328" y="4837175"/>
            <a:ext cx="1889760" cy="228600"/>
          </a:xfrm>
          <a:prstGeom prst="rect">
            <a:avLst/>
          </a:prstGeom>
          <a:noFill/>
        </p:spPr>
        <p:txBody>
          <a:bodyPr wrap="square" lIns="45720" tIns="18288" rIns="45720" bIns="18288" anchor="ctr">
            <a:spAutoFit/>
          </a:bodyPr>
          <a:lstStyle/>
          <a:p>
            <a:pPr algn="ctr">
              <a:spcAft>
                <a:spcPts val="0"/>
              </a:spcAft>
            </a:pPr>
            <a:r>
              <a:rPr sz="900" b="0" dirty="0">
                <a:solidFill>
                  <a:srgbClr val="ACC4C9"/>
                </a:solidFill>
                <a:latin typeface="Aptos"/>
              </a:rPr>
              <a:t>Clothing</a:t>
            </a:r>
          </a:p>
        </p:txBody>
      </p:sp>
      <p:sp>
        <p:nvSpPr>
          <p:cNvPr id="26" name="Rounded Rectangle 25"/>
          <p:cNvSpPr/>
          <p:nvPr/>
        </p:nvSpPr>
        <p:spPr>
          <a:xfrm>
            <a:off x="7269480" y="1554480"/>
            <a:ext cx="4251960" cy="4114800"/>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7" name="TextBox 26"/>
          <p:cNvSpPr txBox="1"/>
          <p:nvPr/>
        </p:nvSpPr>
        <p:spPr>
          <a:xfrm>
            <a:off x="7409688" y="2422274"/>
            <a:ext cx="3657600" cy="344710"/>
          </a:xfrm>
          <a:prstGeom prst="rect">
            <a:avLst/>
          </a:prstGeom>
          <a:noFill/>
        </p:spPr>
        <p:txBody>
          <a:bodyPr wrap="square" lIns="45720" tIns="18288" rIns="45720" bIns="18288" anchor="ctr">
            <a:spAutoFit/>
          </a:bodyPr>
          <a:lstStyle/>
          <a:p>
            <a:pPr algn="ctr"/>
            <a:r>
              <a:rPr lang="en-US" sz="2000" b="1" dirty="0">
                <a:solidFill>
                  <a:srgbClr val="FFC000"/>
                </a:solidFill>
              </a:rPr>
              <a:t>Recommendation</a:t>
            </a:r>
            <a:endParaRPr sz="2000" b="1" dirty="0">
              <a:solidFill>
                <a:srgbClr val="FFC000"/>
              </a:solidFill>
              <a:latin typeface="Aptos"/>
            </a:endParaRPr>
          </a:p>
        </p:txBody>
      </p:sp>
      <p:sp>
        <p:nvSpPr>
          <p:cNvPr id="29" name="TextBox 28"/>
          <p:cNvSpPr txBox="1"/>
          <p:nvPr/>
        </p:nvSpPr>
        <p:spPr>
          <a:xfrm>
            <a:off x="7580376" y="3320138"/>
            <a:ext cx="3453384" cy="898708"/>
          </a:xfrm>
          <a:prstGeom prst="rect">
            <a:avLst/>
          </a:prstGeom>
          <a:noFill/>
        </p:spPr>
        <p:txBody>
          <a:bodyPr wrap="square" lIns="45720" tIns="18288" rIns="45720" bIns="18288" anchor="ctr">
            <a:spAutoFit/>
          </a:bodyPr>
          <a:lstStyle/>
          <a:p>
            <a:pPr algn="ctr"/>
            <a:r>
              <a:rPr lang="en-US" sz="1400" dirty="0">
                <a:solidFill>
                  <a:schemeClr val="bg1"/>
                </a:solidFill>
              </a:rPr>
              <a:t>Test weekend-focused bundles, premium product displays and targeted promotions. Compare results by individual weekday and weekend day before expanding the strategy.</a:t>
            </a:r>
            <a:endParaRPr sz="1400" b="0" dirty="0">
              <a:solidFill>
                <a:schemeClr val="bg1"/>
              </a:solidFill>
              <a:latin typeface="Aptos"/>
            </a:endParaRPr>
          </a:p>
        </p:txBody>
      </p:sp>
      <p:sp>
        <p:nvSpPr>
          <p:cNvPr id="34" name="TextBox 33"/>
          <p:cNvSpPr txBox="1"/>
          <p:nvPr/>
        </p:nvSpPr>
        <p:spPr>
          <a:xfrm>
            <a:off x="8138160" y="4917581"/>
            <a:ext cx="3474720" cy="411480"/>
          </a:xfrm>
          <a:prstGeom prst="rect">
            <a:avLst/>
          </a:prstGeom>
          <a:noFill/>
        </p:spPr>
        <p:txBody>
          <a:bodyPr wrap="square" lIns="45720" tIns="18288" rIns="45720" bIns="18288" anchor="ctr">
            <a:spAutoFit/>
          </a:bodyPr>
          <a:lstStyle/>
          <a:p>
            <a:pPr algn="l">
              <a:spcAft>
                <a:spcPts val="0"/>
              </a:spcAft>
            </a:pPr>
            <a:r>
              <a:rPr sz="1500" b="1" dirty="0">
                <a:solidFill>
                  <a:srgbClr val="F5F8F8"/>
                </a:solidFill>
                <a:latin typeface="Aptos"/>
              </a:rPr>
              <a:t>Target: +15% next quarter</a:t>
            </a:r>
          </a:p>
        </p:txBody>
      </p:sp>
      <p:sp>
        <p:nvSpPr>
          <p:cNvPr id="35" name="TextBox 34"/>
          <p:cNvSpPr txBox="1"/>
          <p:nvPr/>
        </p:nvSpPr>
        <p:spPr>
          <a:xfrm>
            <a:off x="594360" y="6531090"/>
            <a:ext cx="6400800" cy="160044"/>
          </a:xfrm>
          <a:prstGeom prst="rect">
            <a:avLst/>
          </a:prstGeom>
          <a:noFill/>
        </p:spPr>
        <p:txBody>
          <a:bodyPr wrap="square" lIns="45720" tIns="18288" rIns="45720" bIns="18288" anchor="ctr">
            <a:spAutoFit/>
          </a:bodyPr>
          <a:lstStyle/>
          <a:p>
            <a:pPr algn="l">
              <a:spcAft>
                <a:spcPts val="0"/>
              </a:spcAft>
            </a:pPr>
            <a:r>
              <a:rPr sz="800" b="0" dirty="0">
                <a:solidFill>
                  <a:srgbClr val="ACC4C9"/>
                </a:solidFill>
                <a:latin typeface="Aptos"/>
              </a:rPr>
              <a:t>FASHIONWAVE  •  RETAIL SALES ANALYSIS  </a:t>
            </a:r>
          </a:p>
        </p:txBody>
      </p:sp>
      <p:sp>
        <p:nvSpPr>
          <p:cNvPr id="37" name="Rounded Rectangle 36">
            <a:hlinkClick r:id="rId2" action="ppaction://hlinksldjump"/>
          </p:cNvPr>
          <p:cNvSpPr/>
          <p:nvPr/>
        </p:nvSpPr>
        <p:spPr>
          <a:xfrm>
            <a:off x="3657600" y="6144768"/>
            <a:ext cx="960120"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Overview</a:t>
            </a:r>
          </a:p>
        </p:txBody>
      </p:sp>
      <p:sp>
        <p:nvSpPr>
          <p:cNvPr id="38" name="Rounded Rectangle 37">
            <a:hlinkClick r:id="rId3" action="ppaction://hlinksldjump"/>
          </p:cNvPr>
          <p:cNvSpPr/>
          <p:nvPr/>
        </p:nvSpPr>
        <p:spPr>
          <a:xfrm>
            <a:off x="4690872" y="6144768"/>
            <a:ext cx="914400"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Categories</a:t>
            </a:r>
          </a:p>
        </p:txBody>
      </p:sp>
      <p:sp>
        <p:nvSpPr>
          <p:cNvPr id="39" name="Rounded Rectangle 38">
            <a:hlinkClick r:id="rId4" action="ppaction://hlinksldjump"/>
          </p:cNvPr>
          <p:cNvSpPr/>
          <p:nvPr/>
        </p:nvSpPr>
        <p:spPr>
          <a:xfrm>
            <a:off x="5678424" y="6144768"/>
            <a:ext cx="841248" cy="310896"/>
          </a:xfrm>
          <a:prstGeom prst="roundRect">
            <a:avLst>
              <a:gd name="adj" fmla="val 12000"/>
            </a:avLst>
          </a:prstGeom>
          <a:solidFill>
            <a:srgbClr val="1FC1B5"/>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051C26"/>
                </a:solidFill>
                <a:latin typeface="Aptos"/>
              </a:rPr>
              <a:t>Weekend</a:t>
            </a:r>
          </a:p>
        </p:txBody>
      </p:sp>
      <p:sp>
        <p:nvSpPr>
          <p:cNvPr id="40" name="Rounded Rectangle 39">
            <a:hlinkClick r:id="rId5" action="ppaction://hlinksldjump"/>
          </p:cNvPr>
          <p:cNvSpPr/>
          <p:nvPr/>
        </p:nvSpPr>
        <p:spPr>
          <a:xfrm>
            <a:off x="6592824" y="6144768"/>
            <a:ext cx="914400"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Discounts</a:t>
            </a:r>
          </a:p>
        </p:txBody>
      </p:sp>
      <p:sp>
        <p:nvSpPr>
          <p:cNvPr id="41" name="Rounded Rectangle 40">
            <a:hlinkClick r:id="rId6" action="ppaction://hlinksldjump"/>
          </p:cNvPr>
          <p:cNvSpPr/>
          <p:nvPr/>
        </p:nvSpPr>
        <p:spPr>
          <a:xfrm>
            <a:off x="7580375" y="6144768"/>
            <a:ext cx="713232"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Stores</a:t>
            </a:r>
          </a:p>
        </p:txBody>
      </p:sp>
      <p:sp>
        <p:nvSpPr>
          <p:cNvPr id="42" name="Rounded Rectangle 41">
            <a:hlinkClick r:id="rId7" action="ppaction://hlinksldjump"/>
          </p:cNvPr>
          <p:cNvSpPr/>
          <p:nvPr/>
        </p:nvSpPr>
        <p:spPr>
          <a:xfrm>
            <a:off x="8366759" y="6144768"/>
            <a:ext cx="960120"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Customers</a:t>
            </a:r>
          </a:p>
        </p:txBody>
      </p:sp>
      <p:sp>
        <p:nvSpPr>
          <p:cNvPr id="43" name="Rounded Rectangle 42">
            <a:hlinkClick r:id="rId8" action="ppaction://hlinksldjump"/>
          </p:cNvPr>
          <p:cNvSpPr/>
          <p:nvPr/>
        </p:nvSpPr>
        <p:spPr>
          <a:xfrm>
            <a:off x="9400032" y="6144768"/>
            <a:ext cx="749808"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Actions</a:t>
            </a:r>
          </a:p>
        </p:txBody>
      </p:sp>
      <p:sp>
        <p:nvSpPr>
          <p:cNvPr id="44" name="Rectangle 43">
            <a:extLst>
              <a:ext uri="{FF2B5EF4-FFF2-40B4-BE49-F238E27FC236}">
                <a16:creationId xmlns:a16="http://schemas.microsoft.com/office/drawing/2014/main" id="{DDD03842-4D9D-F7E1-6EDB-263A815BFAFD}"/>
              </a:ext>
            </a:extLst>
          </p:cNvPr>
          <p:cNvSpPr/>
          <p:nvPr/>
        </p:nvSpPr>
        <p:spPr>
          <a:xfrm>
            <a:off x="1005840" y="5332181"/>
            <a:ext cx="231648" cy="142786"/>
          </a:xfrm>
          <a:prstGeom prst="rect">
            <a:avLst/>
          </a:prstGeom>
          <a:solidFill>
            <a:srgbClr val="1FC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a:extLst>
              <a:ext uri="{FF2B5EF4-FFF2-40B4-BE49-F238E27FC236}">
                <a16:creationId xmlns:a16="http://schemas.microsoft.com/office/drawing/2014/main" id="{5C6D1442-F5C7-21CC-3EFC-49C456967A3E}"/>
              </a:ext>
            </a:extLst>
          </p:cNvPr>
          <p:cNvSpPr txBox="1"/>
          <p:nvPr/>
        </p:nvSpPr>
        <p:spPr>
          <a:xfrm>
            <a:off x="741387" y="5329061"/>
            <a:ext cx="1889760" cy="175433"/>
          </a:xfrm>
          <a:prstGeom prst="rect">
            <a:avLst/>
          </a:prstGeom>
          <a:noFill/>
        </p:spPr>
        <p:txBody>
          <a:bodyPr wrap="square" lIns="45720" tIns="18288" rIns="45720" bIns="18288" anchor="ctr">
            <a:spAutoFit/>
          </a:bodyPr>
          <a:lstStyle/>
          <a:p>
            <a:pPr algn="ctr">
              <a:spcAft>
                <a:spcPts val="0"/>
              </a:spcAft>
            </a:pPr>
            <a:r>
              <a:rPr lang="en-US" sz="900" b="0" dirty="0">
                <a:solidFill>
                  <a:srgbClr val="ACC4C9"/>
                </a:solidFill>
                <a:latin typeface="Aptos"/>
              </a:rPr>
              <a:t>WEEKEND</a:t>
            </a:r>
            <a:endParaRPr sz="900" b="0" dirty="0">
              <a:solidFill>
                <a:srgbClr val="ACC4C9"/>
              </a:solidFill>
              <a:latin typeface="Aptos"/>
            </a:endParaRPr>
          </a:p>
        </p:txBody>
      </p:sp>
      <p:sp>
        <p:nvSpPr>
          <p:cNvPr id="46" name="TextBox 45">
            <a:extLst>
              <a:ext uri="{FF2B5EF4-FFF2-40B4-BE49-F238E27FC236}">
                <a16:creationId xmlns:a16="http://schemas.microsoft.com/office/drawing/2014/main" id="{2AD995C0-B8C8-25C6-EA7F-49A3F950BA62}"/>
              </a:ext>
            </a:extLst>
          </p:cNvPr>
          <p:cNvSpPr txBox="1"/>
          <p:nvPr/>
        </p:nvSpPr>
        <p:spPr>
          <a:xfrm>
            <a:off x="3444240" y="5334297"/>
            <a:ext cx="1889760" cy="175433"/>
          </a:xfrm>
          <a:prstGeom prst="rect">
            <a:avLst/>
          </a:prstGeom>
          <a:noFill/>
        </p:spPr>
        <p:txBody>
          <a:bodyPr wrap="square" lIns="45720" tIns="18288" rIns="45720" bIns="18288" anchor="ctr">
            <a:spAutoFit/>
          </a:bodyPr>
          <a:lstStyle/>
          <a:p>
            <a:pPr algn="ctr">
              <a:spcAft>
                <a:spcPts val="0"/>
              </a:spcAft>
            </a:pPr>
            <a:r>
              <a:rPr lang="en-US" sz="900" dirty="0">
                <a:solidFill>
                  <a:srgbClr val="ACC4C9"/>
                </a:solidFill>
                <a:latin typeface="Aptos"/>
              </a:rPr>
              <a:t>WEEKDAY</a:t>
            </a:r>
            <a:endParaRPr sz="900" b="0" dirty="0">
              <a:solidFill>
                <a:srgbClr val="ACC4C9"/>
              </a:solidFill>
              <a:latin typeface="Aptos"/>
            </a:endParaRPr>
          </a:p>
        </p:txBody>
      </p:sp>
      <p:sp>
        <p:nvSpPr>
          <p:cNvPr id="47" name="Rectangle 46">
            <a:extLst>
              <a:ext uri="{FF2B5EF4-FFF2-40B4-BE49-F238E27FC236}">
                <a16:creationId xmlns:a16="http://schemas.microsoft.com/office/drawing/2014/main" id="{D48BAB08-D2E1-AD7B-5E9B-2916A128FFAB}"/>
              </a:ext>
            </a:extLst>
          </p:cNvPr>
          <p:cNvSpPr/>
          <p:nvPr/>
        </p:nvSpPr>
        <p:spPr>
          <a:xfrm>
            <a:off x="3697224" y="5303520"/>
            <a:ext cx="231648" cy="152162"/>
          </a:xfrm>
          <a:prstGeom prst="rect">
            <a:avLst/>
          </a:prstGeom>
          <a:solidFill>
            <a:srgbClr val="F2C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9" name="Graphic 48" descr="Hourglass">
            <a:extLst>
              <a:ext uri="{FF2B5EF4-FFF2-40B4-BE49-F238E27FC236}">
                <a16:creationId xmlns:a16="http://schemas.microsoft.com/office/drawing/2014/main" id="{CE645558-2F91-7E15-BA7F-2FED275F3B3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790731" y="1648513"/>
            <a:ext cx="683207" cy="68320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51C26"/>
        </a:solidFill>
        <a:effectLst/>
      </p:bgPr>
    </p:bg>
    <p:spTree>
      <p:nvGrpSpPr>
        <p:cNvPr id="1" name=""/>
        <p:cNvGrpSpPr/>
        <p:nvPr/>
      </p:nvGrpSpPr>
      <p:grpSpPr>
        <a:xfrm>
          <a:off x="0" y="0"/>
          <a:ext cx="0" cy="0"/>
          <a:chOff x="0" y="0"/>
          <a:chExt cx="0" cy="0"/>
        </a:xfrm>
      </p:grpSpPr>
      <p:sp>
        <p:nvSpPr>
          <p:cNvPr id="3" name="TextBox 2"/>
          <p:cNvSpPr txBox="1"/>
          <p:nvPr/>
        </p:nvSpPr>
        <p:spPr>
          <a:xfrm>
            <a:off x="594360" y="530352"/>
            <a:ext cx="10972800" cy="502920"/>
          </a:xfrm>
          <a:prstGeom prst="rect">
            <a:avLst/>
          </a:prstGeom>
          <a:noFill/>
        </p:spPr>
        <p:txBody>
          <a:bodyPr wrap="square" lIns="45720" tIns="18288" rIns="45720" bIns="18288" anchor="ctr">
            <a:spAutoFit/>
          </a:bodyPr>
          <a:lstStyle/>
          <a:p>
            <a:pPr algn="l">
              <a:spcAft>
                <a:spcPts val="0"/>
              </a:spcAft>
            </a:pPr>
            <a:r>
              <a:rPr sz="2600" b="1">
                <a:solidFill>
                  <a:srgbClr val="F5F8F8"/>
                </a:solidFill>
                <a:latin typeface="Aptos"/>
              </a:rPr>
              <a:t>Measure margin impact before changing offers</a:t>
            </a:r>
          </a:p>
        </p:txBody>
      </p:sp>
      <p:sp>
        <p:nvSpPr>
          <p:cNvPr id="4" name="TextBox 3"/>
          <p:cNvSpPr txBox="1"/>
          <p:nvPr/>
        </p:nvSpPr>
        <p:spPr>
          <a:xfrm>
            <a:off x="621792" y="963953"/>
            <a:ext cx="10972800" cy="467820"/>
          </a:xfrm>
          <a:prstGeom prst="rect">
            <a:avLst/>
          </a:prstGeom>
          <a:noFill/>
        </p:spPr>
        <p:txBody>
          <a:bodyPr wrap="square" lIns="45720" tIns="18288" rIns="45720" bIns="18288" anchor="ctr">
            <a:spAutoFit/>
          </a:bodyPr>
          <a:lstStyle/>
          <a:p>
            <a:r>
              <a:rPr lang="en-US" sz="1400" dirty="0">
                <a:solidFill>
                  <a:schemeClr val="bg1"/>
                </a:solidFill>
              </a:rPr>
              <a:t>Profit margin declines consistently as discounts increase. Transactions with a 30% discount have a 64.6% margin, compared with 75.4% for transactions without a discount — a difference of 10.8 percentage points.</a:t>
            </a:r>
            <a:endParaRPr sz="1400" b="0" dirty="0">
              <a:solidFill>
                <a:schemeClr val="bg1"/>
              </a:solidFill>
              <a:latin typeface="Aptos"/>
            </a:endParaRPr>
          </a:p>
        </p:txBody>
      </p:sp>
      <p:sp>
        <p:nvSpPr>
          <p:cNvPr id="5" name="Rounded Rectangle 4"/>
          <p:cNvSpPr/>
          <p:nvPr/>
        </p:nvSpPr>
        <p:spPr>
          <a:xfrm>
            <a:off x="640080" y="1554480"/>
            <a:ext cx="5394960" cy="4069080"/>
          </a:xfrm>
          <a:prstGeom prst="roundRect">
            <a:avLst>
              <a:gd name="adj" fmla="val 12000"/>
            </a:avLst>
          </a:prstGeom>
          <a:solidFill>
            <a:srgbClr val="0A30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783080"/>
            <a:ext cx="4846320" cy="274320"/>
          </a:xfrm>
          <a:prstGeom prst="rect">
            <a:avLst/>
          </a:prstGeom>
          <a:noFill/>
        </p:spPr>
        <p:txBody>
          <a:bodyPr wrap="square" lIns="45720" tIns="18288" rIns="45720" bIns="18288" anchor="ctr">
            <a:spAutoFit/>
          </a:bodyPr>
          <a:lstStyle/>
          <a:p>
            <a:pPr algn="l">
              <a:spcAft>
                <a:spcPts val="0"/>
              </a:spcAft>
            </a:pPr>
            <a:r>
              <a:rPr sz="1400" b="1">
                <a:solidFill>
                  <a:srgbClr val="F5F8F8"/>
                </a:solidFill>
                <a:latin typeface="Aptos"/>
              </a:rPr>
              <a:t>Profit Margin by Discount Group</a:t>
            </a:r>
          </a:p>
        </p:txBody>
      </p:sp>
      <p:cxnSp>
        <p:nvCxnSpPr>
          <p:cNvPr id="7" name="Connector 6"/>
          <p:cNvCxnSpPr/>
          <p:nvPr/>
        </p:nvCxnSpPr>
        <p:spPr>
          <a:xfrm>
            <a:off x="1143000" y="4240529"/>
            <a:ext cx="4389120" cy="0"/>
          </a:xfrm>
          <a:prstGeom prst="line">
            <a:avLst/>
          </a:prstGeom>
          <a:ln w="6350">
            <a:solidFill>
              <a:srgbClr val="27525B"/>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3000" y="3634739"/>
            <a:ext cx="4389120" cy="0"/>
          </a:xfrm>
          <a:prstGeom prst="line">
            <a:avLst/>
          </a:prstGeom>
          <a:ln w="6350">
            <a:solidFill>
              <a:srgbClr val="27525B"/>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43000" y="3028950"/>
            <a:ext cx="4389120" cy="0"/>
          </a:xfrm>
          <a:prstGeom prst="line">
            <a:avLst/>
          </a:prstGeom>
          <a:ln w="6350">
            <a:solidFill>
              <a:srgbClr val="27525B"/>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43000" y="2423160"/>
            <a:ext cx="4389120" cy="0"/>
          </a:xfrm>
          <a:prstGeom prst="line">
            <a:avLst/>
          </a:prstGeom>
          <a:ln w="6350">
            <a:solidFill>
              <a:srgbClr val="27525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263640" y="1554480"/>
            <a:ext cx="5257800" cy="4069080"/>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28560" y="2604183"/>
            <a:ext cx="4663440" cy="406265"/>
          </a:xfrm>
          <a:prstGeom prst="rect">
            <a:avLst/>
          </a:prstGeom>
          <a:noFill/>
        </p:spPr>
        <p:txBody>
          <a:bodyPr wrap="square" lIns="45720" tIns="18288" rIns="45720" bIns="18288" anchor="ctr">
            <a:spAutoFit/>
          </a:bodyPr>
          <a:lstStyle/>
          <a:p>
            <a:r>
              <a:rPr lang="en-US" sz="2400" b="1" dirty="0">
                <a:solidFill>
                  <a:srgbClr val="FFC000"/>
                </a:solidFill>
              </a:rPr>
              <a:t>Recommendation</a:t>
            </a:r>
            <a:endParaRPr sz="2400" b="1" dirty="0">
              <a:solidFill>
                <a:srgbClr val="FFC000"/>
              </a:solidFill>
              <a:latin typeface="Aptos"/>
            </a:endParaRPr>
          </a:p>
        </p:txBody>
      </p:sp>
      <p:sp>
        <p:nvSpPr>
          <p:cNvPr id="25" name="TextBox 24"/>
          <p:cNvSpPr txBox="1"/>
          <p:nvPr/>
        </p:nvSpPr>
        <p:spPr>
          <a:xfrm>
            <a:off x="6943525" y="4883319"/>
            <a:ext cx="4480560" cy="411480"/>
          </a:xfrm>
          <a:prstGeom prst="rect">
            <a:avLst/>
          </a:prstGeom>
          <a:noFill/>
        </p:spPr>
        <p:txBody>
          <a:bodyPr wrap="square" lIns="45720" tIns="18288" rIns="45720" bIns="18288" anchor="ctr">
            <a:spAutoFit/>
          </a:bodyPr>
          <a:lstStyle/>
          <a:p>
            <a:pPr algn="l">
              <a:spcAft>
                <a:spcPts val="0"/>
              </a:spcAft>
            </a:pPr>
            <a:r>
              <a:rPr sz="1100" b="1" dirty="0">
                <a:solidFill>
                  <a:srgbClr val="F5F8F8"/>
                </a:solidFill>
                <a:latin typeface="Aptos"/>
              </a:rPr>
              <a:t>Impact = discounted margin − no-discount margin</a:t>
            </a:r>
          </a:p>
        </p:txBody>
      </p:sp>
      <p:sp>
        <p:nvSpPr>
          <p:cNvPr id="26" name="TextBox 25"/>
          <p:cNvSpPr txBox="1"/>
          <p:nvPr/>
        </p:nvSpPr>
        <p:spPr>
          <a:xfrm>
            <a:off x="594360" y="6531090"/>
            <a:ext cx="6400800" cy="160044"/>
          </a:xfrm>
          <a:prstGeom prst="rect">
            <a:avLst/>
          </a:prstGeom>
          <a:noFill/>
        </p:spPr>
        <p:txBody>
          <a:bodyPr wrap="square" lIns="45720" tIns="18288" rIns="45720" bIns="18288" anchor="ctr">
            <a:spAutoFit/>
          </a:bodyPr>
          <a:lstStyle/>
          <a:p>
            <a:pPr algn="l">
              <a:spcAft>
                <a:spcPts val="0"/>
              </a:spcAft>
            </a:pPr>
            <a:r>
              <a:rPr sz="800" b="0" dirty="0">
                <a:solidFill>
                  <a:srgbClr val="ACC4C9"/>
                </a:solidFill>
                <a:latin typeface="Aptos"/>
              </a:rPr>
              <a:t>FASHIONWAVE  •  RETAIL SALES ANALYSIS  </a:t>
            </a:r>
          </a:p>
        </p:txBody>
      </p:sp>
      <p:sp>
        <p:nvSpPr>
          <p:cNvPr id="28" name="Rounded Rectangle 27">
            <a:hlinkClick r:id="rId2" action="ppaction://hlinksldjump"/>
          </p:cNvPr>
          <p:cNvSpPr/>
          <p:nvPr/>
        </p:nvSpPr>
        <p:spPr>
          <a:xfrm>
            <a:off x="3657600" y="6144768"/>
            <a:ext cx="960120"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Overview</a:t>
            </a:r>
          </a:p>
        </p:txBody>
      </p:sp>
      <p:sp>
        <p:nvSpPr>
          <p:cNvPr id="29" name="Rounded Rectangle 28">
            <a:hlinkClick r:id="rId3" action="ppaction://hlinksldjump"/>
          </p:cNvPr>
          <p:cNvSpPr/>
          <p:nvPr/>
        </p:nvSpPr>
        <p:spPr>
          <a:xfrm>
            <a:off x="4690872" y="6144768"/>
            <a:ext cx="914400"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Categories</a:t>
            </a:r>
          </a:p>
        </p:txBody>
      </p:sp>
      <p:sp>
        <p:nvSpPr>
          <p:cNvPr id="30" name="Rounded Rectangle 29">
            <a:hlinkClick r:id="rId4" action="ppaction://hlinksldjump"/>
          </p:cNvPr>
          <p:cNvSpPr/>
          <p:nvPr/>
        </p:nvSpPr>
        <p:spPr>
          <a:xfrm>
            <a:off x="5678424" y="6144768"/>
            <a:ext cx="841248"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Weekend</a:t>
            </a:r>
          </a:p>
        </p:txBody>
      </p:sp>
      <p:sp>
        <p:nvSpPr>
          <p:cNvPr id="31" name="Rounded Rectangle 30">
            <a:hlinkClick r:id="rId5" action="ppaction://hlinksldjump"/>
          </p:cNvPr>
          <p:cNvSpPr/>
          <p:nvPr/>
        </p:nvSpPr>
        <p:spPr>
          <a:xfrm>
            <a:off x="6592824" y="6144768"/>
            <a:ext cx="914400" cy="310896"/>
          </a:xfrm>
          <a:prstGeom prst="roundRect">
            <a:avLst>
              <a:gd name="adj" fmla="val 12000"/>
            </a:avLst>
          </a:prstGeom>
          <a:solidFill>
            <a:srgbClr val="1FC1B5"/>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051C26"/>
                </a:solidFill>
                <a:latin typeface="Aptos"/>
              </a:rPr>
              <a:t>Discounts</a:t>
            </a:r>
          </a:p>
        </p:txBody>
      </p:sp>
      <p:sp>
        <p:nvSpPr>
          <p:cNvPr id="32" name="Rounded Rectangle 31">
            <a:hlinkClick r:id="rId6" action="ppaction://hlinksldjump"/>
          </p:cNvPr>
          <p:cNvSpPr/>
          <p:nvPr/>
        </p:nvSpPr>
        <p:spPr>
          <a:xfrm>
            <a:off x="7580375" y="6144768"/>
            <a:ext cx="713232"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Stores</a:t>
            </a:r>
          </a:p>
        </p:txBody>
      </p:sp>
      <p:sp>
        <p:nvSpPr>
          <p:cNvPr id="33" name="Rounded Rectangle 32">
            <a:hlinkClick r:id="rId7" action="ppaction://hlinksldjump"/>
          </p:cNvPr>
          <p:cNvSpPr/>
          <p:nvPr/>
        </p:nvSpPr>
        <p:spPr>
          <a:xfrm>
            <a:off x="8366759" y="6144768"/>
            <a:ext cx="960120"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Customers</a:t>
            </a:r>
          </a:p>
        </p:txBody>
      </p:sp>
      <p:sp>
        <p:nvSpPr>
          <p:cNvPr id="34" name="Rounded Rectangle 33">
            <a:hlinkClick r:id="rId8" action="ppaction://hlinksldjump"/>
          </p:cNvPr>
          <p:cNvSpPr/>
          <p:nvPr/>
        </p:nvSpPr>
        <p:spPr>
          <a:xfrm>
            <a:off x="9400032" y="6144768"/>
            <a:ext cx="749808"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Actions</a:t>
            </a:r>
          </a:p>
        </p:txBody>
      </p:sp>
      <p:pic>
        <p:nvPicPr>
          <p:cNvPr id="38" name="Picture 37">
            <a:extLst>
              <a:ext uri="{FF2B5EF4-FFF2-40B4-BE49-F238E27FC236}">
                <a16:creationId xmlns:a16="http://schemas.microsoft.com/office/drawing/2014/main" id="{F42FFA29-4DD3-DF6B-F1CB-E895BA9009C8}"/>
              </a:ext>
            </a:extLst>
          </p:cNvPr>
          <p:cNvPicPr>
            <a:picLocks noChangeAspect="1"/>
          </p:cNvPicPr>
          <p:nvPr/>
        </p:nvPicPr>
        <p:blipFill>
          <a:blip r:embed="rId9"/>
          <a:srcRect t="16669"/>
          <a:stretch>
            <a:fillRect/>
          </a:stretch>
        </p:blipFill>
        <p:spPr>
          <a:xfrm>
            <a:off x="767915" y="2414440"/>
            <a:ext cx="5114411" cy="2468879"/>
          </a:xfrm>
          <a:prstGeom prst="rect">
            <a:avLst/>
          </a:prstGeom>
        </p:spPr>
      </p:pic>
      <p:pic>
        <p:nvPicPr>
          <p:cNvPr id="41" name="Graphic 40" descr="Gears">
            <a:extLst>
              <a:ext uri="{FF2B5EF4-FFF2-40B4-BE49-F238E27FC236}">
                <a16:creationId xmlns:a16="http://schemas.microsoft.com/office/drawing/2014/main" id="{71A875FE-1EC4-0B64-D5EA-FCD02292280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299892" y="1698819"/>
            <a:ext cx="670876" cy="670876"/>
          </a:xfrm>
          <a:prstGeom prst="rect">
            <a:avLst/>
          </a:prstGeom>
        </p:spPr>
      </p:pic>
      <p:sp>
        <p:nvSpPr>
          <p:cNvPr id="43" name="TextBox 42">
            <a:extLst>
              <a:ext uri="{FF2B5EF4-FFF2-40B4-BE49-F238E27FC236}">
                <a16:creationId xmlns:a16="http://schemas.microsoft.com/office/drawing/2014/main" id="{F31A04AF-3777-35A5-4821-6217DF3AD110}"/>
              </a:ext>
            </a:extLst>
          </p:cNvPr>
          <p:cNvSpPr txBox="1"/>
          <p:nvPr/>
        </p:nvSpPr>
        <p:spPr>
          <a:xfrm>
            <a:off x="6606539" y="3548445"/>
            <a:ext cx="4480560" cy="683264"/>
          </a:xfrm>
          <a:prstGeom prst="rect">
            <a:avLst/>
          </a:prstGeom>
          <a:noFill/>
        </p:spPr>
        <p:txBody>
          <a:bodyPr wrap="square" lIns="45720" tIns="18288" rIns="45720" bIns="18288" anchor="ctr">
            <a:spAutoFit/>
          </a:bodyPr>
          <a:lstStyle/>
          <a:p>
            <a:pPr algn="ctr"/>
            <a:r>
              <a:rPr lang="en-US" sz="1400" dirty="0">
                <a:solidFill>
                  <a:schemeClr val="bg1"/>
                </a:solidFill>
              </a:rPr>
              <a:t>Introduce discount thresholds, prioritize offers on products with sufficient margins, and measure incremental sales and profit before extending promotions.</a:t>
            </a:r>
            <a:endParaRPr sz="1400" b="1" dirty="0">
              <a:solidFill>
                <a:schemeClr val="bg1"/>
              </a:solidFill>
              <a:latin typeface="Apto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51C26"/>
        </a:solidFill>
        <a:effectLst/>
      </p:bgPr>
    </p:bg>
    <p:spTree>
      <p:nvGrpSpPr>
        <p:cNvPr id="1" name=""/>
        <p:cNvGrpSpPr/>
        <p:nvPr/>
      </p:nvGrpSpPr>
      <p:grpSpPr>
        <a:xfrm>
          <a:off x="0" y="0"/>
          <a:ext cx="0" cy="0"/>
          <a:chOff x="0" y="0"/>
          <a:chExt cx="0" cy="0"/>
        </a:xfrm>
      </p:grpSpPr>
      <p:sp>
        <p:nvSpPr>
          <p:cNvPr id="3" name="TextBox 2"/>
          <p:cNvSpPr txBox="1"/>
          <p:nvPr/>
        </p:nvSpPr>
        <p:spPr>
          <a:xfrm>
            <a:off x="594360" y="563290"/>
            <a:ext cx="10972800" cy="437043"/>
          </a:xfrm>
          <a:prstGeom prst="rect">
            <a:avLst/>
          </a:prstGeom>
          <a:noFill/>
        </p:spPr>
        <p:txBody>
          <a:bodyPr wrap="square" lIns="45720" tIns="18288" rIns="45720" bIns="18288" anchor="ctr">
            <a:spAutoFit/>
          </a:bodyPr>
          <a:lstStyle/>
          <a:p>
            <a:pPr algn="l">
              <a:spcAft>
                <a:spcPts val="0"/>
              </a:spcAft>
            </a:pPr>
            <a:r>
              <a:rPr lang="en-US" sz="2600" b="1" dirty="0">
                <a:solidFill>
                  <a:srgbClr val="F5F8F8"/>
                </a:solidFill>
                <a:latin typeface="Aptos"/>
              </a:rPr>
              <a:t>I</a:t>
            </a:r>
            <a:r>
              <a:rPr sz="2600" b="1" dirty="0">
                <a:solidFill>
                  <a:srgbClr val="F5F8F8"/>
                </a:solidFill>
                <a:latin typeface="Aptos"/>
              </a:rPr>
              <a:t>mprovement opportunities</a:t>
            </a:r>
            <a:r>
              <a:rPr lang="en-US" sz="2600" b="1" dirty="0">
                <a:solidFill>
                  <a:srgbClr val="F5F8F8"/>
                </a:solidFill>
                <a:latin typeface="Aptos"/>
              </a:rPr>
              <a:t> for underperforming stores</a:t>
            </a:r>
            <a:endParaRPr sz="2600" b="1" dirty="0">
              <a:solidFill>
                <a:srgbClr val="F5F8F8"/>
              </a:solidFill>
              <a:latin typeface="Aptos"/>
            </a:endParaRPr>
          </a:p>
        </p:txBody>
      </p:sp>
      <p:sp>
        <p:nvSpPr>
          <p:cNvPr id="4" name="TextBox 3"/>
          <p:cNvSpPr txBox="1"/>
          <p:nvPr/>
        </p:nvSpPr>
        <p:spPr>
          <a:xfrm>
            <a:off x="621792" y="963953"/>
            <a:ext cx="10972800" cy="467820"/>
          </a:xfrm>
          <a:prstGeom prst="rect">
            <a:avLst/>
          </a:prstGeom>
          <a:noFill/>
        </p:spPr>
        <p:txBody>
          <a:bodyPr wrap="square" lIns="45720" tIns="18288" rIns="45720" bIns="18288" anchor="ctr">
            <a:spAutoFit/>
          </a:bodyPr>
          <a:lstStyle/>
          <a:p>
            <a:r>
              <a:rPr lang="en-US" sz="1400" dirty="0">
                <a:solidFill>
                  <a:schemeClr val="bg1"/>
                </a:solidFill>
              </a:rPr>
              <a:t>STR037 and STR023 have the weakest total sales, while STR027 and STR001 have the weakest margins. This distinction matters: low sales may reflect fewer or smaller purchases, while low margins suggest a profitability issue.</a:t>
            </a:r>
            <a:endParaRPr sz="1400" b="0" dirty="0">
              <a:solidFill>
                <a:schemeClr val="bg1"/>
              </a:solidFill>
              <a:latin typeface="Aptos"/>
            </a:endParaRPr>
          </a:p>
        </p:txBody>
      </p:sp>
      <p:sp>
        <p:nvSpPr>
          <p:cNvPr id="6" name="TextBox 5"/>
          <p:cNvSpPr txBox="1"/>
          <p:nvPr/>
        </p:nvSpPr>
        <p:spPr>
          <a:xfrm>
            <a:off x="822960" y="1673273"/>
            <a:ext cx="5486400" cy="292608"/>
          </a:xfrm>
          <a:prstGeom prst="rect">
            <a:avLst/>
          </a:prstGeom>
          <a:noFill/>
        </p:spPr>
        <p:txBody>
          <a:bodyPr wrap="square" lIns="45720" tIns="18288" rIns="45720" bIns="18288" anchor="ctr">
            <a:spAutoFit/>
          </a:bodyPr>
          <a:lstStyle/>
          <a:p>
            <a:pPr algn="l">
              <a:spcAft>
                <a:spcPts val="0"/>
              </a:spcAft>
            </a:pPr>
            <a:r>
              <a:rPr sz="1300" b="1" dirty="0">
                <a:solidFill>
                  <a:srgbClr val="F5F8F8"/>
                </a:solidFill>
                <a:latin typeface="Aptos"/>
              </a:rPr>
              <a:t>Top Stores by Total Sales (approx.)</a:t>
            </a:r>
          </a:p>
        </p:txBody>
      </p:sp>
      <p:sp>
        <p:nvSpPr>
          <p:cNvPr id="26" name="Rounded Rectangle 25"/>
          <p:cNvSpPr/>
          <p:nvPr/>
        </p:nvSpPr>
        <p:spPr>
          <a:xfrm>
            <a:off x="6766560" y="1554480"/>
            <a:ext cx="4754880" cy="4114800"/>
          </a:xfrm>
          <a:prstGeom prst="roundRect">
            <a:avLst>
              <a:gd name="adj" fmla="val 12000"/>
            </a:avLst>
          </a:prstGeom>
          <a:solidFill>
            <a:srgbClr val="0A30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674927" y="2555431"/>
            <a:ext cx="4206240" cy="344710"/>
          </a:xfrm>
          <a:prstGeom prst="rect">
            <a:avLst/>
          </a:prstGeom>
          <a:noFill/>
        </p:spPr>
        <p:txBody>
          <a:bodyPr wrap="square" lIns="45720" tIns="18288" rIns="45720" bIns="18288" anchor="ctr">
            <a:spAutoFit/>
          </a:bodyPr>
          <a:lstStyle/>
          <a:p>
            <a:r>
              <a:rPr lang="en-US" sz="2000" b="1" dirty="0">
                <a:solidFill>
                  <a:srgbClr val="92D050"/>
                </a:solidFill>
              </a:rPr>
              <a:t>Possible causes to investigate</a:t>
            </a:r>
            <a:endParaRPr sz="2000" b="1" dirty="0">
              <a:solidFill>
                <a:srgbClr val="92D050"/>
              </a:solidFill>
              <a:latin typeface="Aptos"/>
            </a:endParaRPr>
          </a:p>
        </p:txBody>
      </p:sp>
      <p:sp>
        <p:nvSpPr>
          <p:cNvPr id="35" name="TextBox 34"/>
          <p:cNvSpPr txBox="1"/>
          <p:nvPr/>
        </p:nvSpPr>
        <p:spPr>
          <a:xfrm>
            <a:off x="594360" y="6531090"/>
            <a:ext cx="6400800" cy="160044"/>
          </a:xfrm>
          <a:prstGeom prst="rect">
            <a:avLst/>
          </a:prstGeom>
          <a:noFill/>
        </p:spPr>
        <p:txBody>
          <a:bodyPr wrap="square" lIns="45720" tIns="18288" rIns="45720" bIns="18288" anchor="ctr">
            <a:spAutoFit/>
          </a:bodyPr>
          <a:lstStyle/>
          <a:p>
            <a:pPr algn="l">
              <a:spcAft>
                <a:spcPts val="0"/>
              </a:spcAft>
            </a:pPr>
            <a:r>
              <a:rPr sz="800" b="0" dirty="0">
                <a:solidFill>
                  <a:srgbClr val="ACC4C9"/>
                </a:solidFill>
                <a:latin typeface="Aptos"/>
              </a:rPr>
              <a:t>FASHIONWAVE  •  RETAIL SALES ANALYSIS</a:t>
            </a:r>
          </a:p>
        </p:txBody>
      </p:sp>
      <p:sp>
        <p:nvSpPr>
          <p:cNvPr id="37" name="Rounded Rectangle 36">
            <a:hlinkClick r:id="rId2" action="ppaction://hlinksldjump"/>
          </p:cNvPr>
          <p:cNvSpPr/>
          <p:nvPr/>
        </p:nvSpPr>
        <p:spPr>
          <a:xfrm>
            <a:off x="3657600" y="6144768"/>
            <a:ext cx="960120"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Overview</a:t>
            </a:r>
          </a:p>
        </p:txBody>
      </p:sp>
      <p:sp>
        <p:nvSpPr>
          <p:cNvPr id="38" name="Rounded Rectangle 37">
            <a:hlinkClick r:id="rId3" action="ppaction://hlinksldjump"/>
          </p:cNvPr>
          <p:cNvSpPr/>
          <p:nvPr/>
        </p:nvSpPr>
        <p:spPr>
          <a:xfrm>
            <a:off x="4690872" y="6144768"/>
            <a:ext cx="914400"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Categories</a:t>
            </a:r>
          </a:p>
        </p:txBody>
      </p:sp>
      <p:sp>
        <p:nvSpPr>
          <p:cNvPr id="39" name="Rounded Rectangle 38">
            <a:hlinkClick r:id="rId4" action="ppaction://hlinksldjump"/>
          </p:cNvPr>
          <p:cNvSpPr/>
          <p:nvPr/>
        </p:nvSpPr>
        <p:spPr>
          <a:xfrm>
            <a:off x="5678424" y="6144768"/>
            <a:ext cx="841248"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Weekend</a:t>
            </a:r>
          </a:p>
        </p:txBody>
      </p:sp>
      <p:sp>
        <p:nvSpPr>
          <p:cNvPr id="40" name="Rounded Rectangle 39">
            <a:hlinkClick r:id="rId5" action="ppaction://hlinksldjump"/>
          </p:cNvPr>
          <p:cNvSpPr/>
          <p:nvPr/>
        </p:nvSpPr>
        <p:spPr>
          <a:xfrm>
            <a:off x="6592824" y="6144768"/>
            <a:ext cx="914400"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Discounts</a:t>
            </a:r>
          </a:p>
        </p:txBody>
      </p:sp>
      <p:sp>
        <p:nvSpPr>
          <p:cNvPr id="41" name="Rounded Rectangle 40">
            <a:hlinkClick r:id="rId6" action="ppaction://hlinksldjump"/>
          </p:cNvPr>
          <p:cNvSpPr/>
          <p:nvPr/>
        </p:nvSpPr>
        <p:spPr>
          <a:xfrm>
            <a:off x="7580375" y="6144768"/>
            <a:ext cx="713232" cy="310896"/>
          </a:xfrm>
          <a:prstGeom prst="roundRect">
            <a:avLst>
              <a:gd name="adj" fmla="val 12000"/>
            </a:avLst>
          </a:prstGeom>
          <a:solidFill>
            <a:srgbClr val="1FC1B5"/>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051C26"/>
                </a:solidFill>
                <a:latin typeface="Aptos"/>
              </a:rPr>
              <a:t>Stores</a:t>
            </a:r>
          </a:p>
        </p:txBody>
      </p:sp>
      <p:sp>
        <p:nvSpPr>
          <p:cNvPr id="42" name="Rounded Rectangle 41">
            <a:hlinkClick r:id="rId7" action="ppaction://hlinksldjump"/>
          </p:cNvPr>
          <p:cNvSpPr/>
          <p:nvPr/>
        </p:nvSpPr>
        <p:spPr>
          <a:xfrm>
            <a:off x="8366759" y="6144768"/>
            <a:ext cx="960120"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Customers</a:t>
            </a:r>
          </a:p>
        </p:txBody>
      </p:sp>
      <p:sp>
        <p:nvSpPr>
          <p:cNvPr id="43" name="Rounded Rectangle 42">
            <a:hlinkClick r:id="rId8" action="ppaction://hlinksldjump"/>
          </p:cNvPr>
          <p:cNvSpPr/>
          <p:nvPr/>
        </p:nvSpPr>
        <p:spPr>
          <a:xfrm>
            <a:off x="9400032" y="6144768"/>
            <a:ext cx="749808"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Actions</a:t>
            </a:r>
          </a:p>
        </p:txBody>
      </p:sp>
      <p:pic>
        <p:nvPicPr>
          <p:cNvPr id="45" name="Picture 44">
            <a:extLst>
              <a:ext uri="{FF2B5EF4-FFF2-40B4-BE49-F238E27FC236}">
                <a16:creationId xmlns:a16="http://schemas.microsoft.com/office/drawing/2014/main" id="{CD2C91FC-8576-EB62-4CF6-0E2A8D88370C}"/>
              </a:ext>
            </a:extLst>
          </p:cNvPr>
          <p:cNvPicPr>
            <a:picLocks noChangeAspect="1"/>
          </p:cNvPicPr>
          <p:nvPr/>
        </p:nvPicPr>
        <p:blipFill>
          <a:blip r:embed="rId9"/>
          <a:srcRect l="4750" t="26400" r="68950" b="12533"/>
          <a:stretch>
            <a:fillRect/>
          </a:stretch>
        </p:blipFill>
        <p:spPr>
          <a:xfrm>
            <a:off x="850391" y="1975105"/>
            <a:ext cx="3785615" cy="4524772"/>
          </a:xfrm>
          <a:prstGeom prst="rect">
            <a:avLst/>
          </a:prstGeom>
        </p:spPr>
      </p:pic>
      <p:sp>
        <p:nvSpPr>
          <p:cNvPr id="49" name="Rectangle 4">
            <a:extLst>
              <a:ext uri="{FF2B5EF4-FFF2-40B4-BE49-F238E27FC236}">
                <a16:creationId xmlns:a16="http://schemas.microsoft.com/office/drawing/2014/main" id="{D70885D9-7E23-8040-2B54-488EE3BE04C1}"/>
              </a:ext>
            </a:extLst>
          </p:cNvPr>
          <p:cNvSpPr>
            <a:spLocks noChangeArrowheads="1"/>
          </p:cNvSpPr>
          <p:nvPr/>
        </p:nvSpPr>
        <p:spPr bwMode="auto">
          <a:xfrm>
            <a:off x="7126287" y="3901091"/>
            <a:ext cx="475488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bg1"/>
                </a:solidFill>
                <a:effectLst/>
                <a:latin typeface="Arial" panose="020B0604020202020204" pitchFamily="34" charset="0"/>
              </a:rPr>
              <a:t>Lower average transaction values or weaker product mix.</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bg1"/>
                </a:solidFill>
                <a:effectLst/>
                <a:latin typeface="Arial" panose="020B0604020202020204" pitchFamily="34" charset="0"/>
              </a:rPr>
              <a:t>Greater reliance on discounted products.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bg1"/>
                </a:solidFill>
                <a:effectLst/>
                <a:latin typeface="Arial" panose="020B0604020202020204" pitchFamily="34" charset="0"/>
              </a:rPr>
              <a:t>Higher unit costs for products sold.</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bg1"/>
                </a:solidFill>
                <a:effectLst/>
                <a:latin typeface="Arial" panose="020B0604020202020204" pitchFamily="34" charset="0"/>
              </a:rPr>
              <a:t>Different customer or category mixes across stores.</a:t>
            </a:r>
          </a:p>
        </p:txBody>
      </p:sp>
      <p:pic>
        <p:nvPicPr>
          <p:cNvPr id="52" name="Graphic 51" descr="Research">
            <a:extLst>
              <a:ext uri="{FF2B5EF4-FFF2-40B4-BE49-F238E27FC236}">
                <a16:creationId xmlns:a16="http://schemas.microsoft.com/office/drawing/2014/main" id="{49936F2A-50EC-89C6-6245-C6A56730336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485632" y="1673273"/>
            <a:ext cx="914400" cy="914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51C26"/>
        </a:solidFill>
        <a:effectLst/>
      </p:bgPr>
    </p:bg>
    <p:spTree>
      <p:nvGrpSpPr>
        <p:cNvPr id="1" name=""/>
        <p:cNvGrpSpPr/>
        <p:nvPr/>
      </p:nvGrpSpPr>
      <p:grpSpPr>
        <a:xfrm>
          <a:off x="0" y="0"/>
          <a:ext cx="0" cy="0"/>
          <a:chOff x="0" y="0"/>
          <a:chExt cx="0" cy="0"/>
        </a:xfrm>
      </p:grpSpPr>
      <p:sp>
        <p:nvSpPr>
          <p:cNvPr id="3" name="TextBox 2"/>
          <p:cNvSpPr txBox="1"/>
          <p:nvPr/>
        </p:nvSpPr>
        <p:spPr>
          <a:xfrm>
            <a:off x="594360" y="547902"/>
            <a:ext cx="10972800" cy="467820"/>
          </a:xfrm>
          <a:prstGeom prst="rect">
            <a:avLst/>
          </a:prstGeom>
          <a:noFill/>
        </p:spPr>
        <p:txBody>
          <a:bodyPr wrap="square" lIns="45720" tIns="18288" rIns="45720" bIns="18288" anchor="ctr">
            <a:spAutoFit/>
          </a:bodyPr>
          <a:lstStyle/>
          <a:p>
            <a:r>
              <a:rPr lang="en-US" sz="2800" b="1" dirty="0">
                <a:solidFill>
                  <a:schemeClr val="bg1"/>
                </a:solidFill>
              </a:rPr>
              <a:t>Trends, patterns and anomalies</a:t>
            </a:r>
            <a:endParaRPr sz="2600" b="1" dirty="0">
              <a:solidFill>
                <a:schemeClr val="bg1"/>
              </a:solidFill>
              <a:latin typeface="Aptos"/>
            </a:endParaRPr>
          </a:p>
        </p:txBody>
      </p:sp>
      <p:sp>
        <p:nvSpPr>
          <p:cNvPr id="4" name="TextBox 3"/>
          <p:cNvSpPr txBox="1"/>
          <p:nvPr/>
        </p:nvSpPr>
        <p:spPr>
          <a:xfrm>
            <a:off x="621792" y="963953"/>
            <a:ext cx="10972800" cy="467820"/>
          </a:xfrm>
          <a:prstGeom prst="rect">
            <a:avLst/>
          </a:prstGeom>
          <a:noFill/>
        </p:spPr>
        <p:txBody>
          <a:bodyPr wrap="square" lIns="45720" tIns="18288" rIns="45720" bIns="18288" anchor="ctr">
            <a:spAutoFit/>
          </a:bodyPr>
          <a:lstStyle/>
          <a:p>
            <a:r>
              <a:rPr lang="en-US" sz="1400" dirty="0">
                <a:solidFill>
                  <a:schemeClr val="bg1"/>
                </a:solidFill>
              </a:rPr>
              <a:t>The dataset shows relatively high average transaction values in November and December. This may be consistent with seasonal shopping or holiday promotions, but the dataset does not identify festivals or explain why sales rise.</a:t>
            </a:r>
            <a:endParaRPr sz="1400" b="0" dirty="0">
              <a:solidFill>
                <a:schemeClr val="bg1"/>
              </a:solidFill>
              <a:latin typeface="Aptos"/>
            </a:endParaRPr>
          </a:p>
        </p:txBody>
      </p:sp>
      <p:sp>
        <p:nvSpPr>
          <p:cNvPr id="5" name="Rounded Rectangle 4"/>
          <p:cNvSpPr/>
          <p:nvPr/>
        </p:nvSpPr>
        <p:spPr>
          <a:xfrm>
            <a:off x="640080" y="1554480"/>
            <a:ext cx="5120640" cy="4160520"/>
          </a:xfrm>
          <a:prstGeom prst="roundRect">
            <a:avLst>
              <a:gd name="adj" fmla="val 12000"/>
            </a:avLst>
          </a:prstGeom>
          <a:solidFill>
            <a:srgbClr val="0A30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62631"/>
            <a:ext cx="4480560" cy="252377"/>
          </a:xfrm>
          <a:prstGeom prst="rect">
            <a:avLst/>
          </a:prstGeom>
          <a:noFill/>
        </p:spPr>
        <p:txBody>
          <a:bodyPr wrap="square" lIns="45720" tIns="18288" rIns="45720" bIns="18288" anchor="ctr">
            <a:spAutoFit/>
          </a:bodyPr>
          <a:lstStyle/>
          <a:p>
            <a:r>
              <a:rPr lang="en-US" sz="1400" dirty="0">
                <a:solidFill>
                  <a:srgbClr val="1FC1B5"/>
                </a:solidFill>
              </a:rPr>
              <a:t>Average transaction value by month</a:t>
            </a:r>
            <a:endParaRPr sz="1400" b="1" dirty="0">
              <a:solidFill>
                <a:srgbClr val="1FC1B5"/>
              </a:solidFill>
              <a:latin typeface="Aptos"/>
            </a:endParaRPr>
          </a:p>
        </p:txBody>
      </p:sp>
      <p:sp>
        <p:nvSpPr>
          <p:cNvPr id="19" name="Rounded Rectangle 18"/>
          <p:cNvSpPr/>
          <p:nvPr/>
        </p:nvSpPr>
        <p:spPr>
          <a:xfrm>
            <a:off x="5940675" y="1534275"/>
            <a:ext cx="5486400" cy="4160520"/>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66759" y="2432002"/>
            <a:ext cx="1938527" cy="344710"/>
          </a:xfrm>
          <a:prstGeom prst="rect">
            <a:avLst/>
          </a:prstGeom>
          <a:noFill/>
        </p:spPr>
        <p:txBody>
          <a:bodyPr wrap="square" lIns="45720" tIns="18288" rIns="45720" bIns="18288" anchor="ctr">
            <a:spAutoFit/>
          </a:bodyPr>
          <a:lstStyle/>
          <a:p>
            <a:pPr algn="l">
              <a:spcAft>
                <a:spcPts val="0"/>
              </a:spcAft>
            </a:pPr>
            <a:r>
              <a:rPr lang="en-US" sz="2000" b="1" dirty="0">
                <a:solidFill>
                  <a:srgbClr val="F2CA4A"/>
                </a:solidFill>
                <a:latin typeface="Aptos"/>
              </a:rPr>
              <a:t>Insights</a:t>
            </a:r>
            <a:endParaRPr sz="2000" b="1" dirty="0">
              <a:solidFill>
                <a:srgbClr val="F2CA4A"/>
              </a:solidFill>
              <a:latin typeface="Aptos"/>
            </a:endParaRPr>
          </a:p>
        </p:txBody>
      </p:sp>
      <p:sp>
        <p:nvSpPr>
          <p:cNvPr id="21" name="Rounded Rectangle 20"/>
          <p:cNvSpPr/>
          <p:nvPr/>
        </p:nvSpPr>
        <p:spPr>
          <a:xfrm>
            <a:off x="6272784" y="3040699"/>
            <a:ext cx="82296" cy="82296"/>
          </a:xfrm>
          <a:prstGeom prst="roundRect">
            <a:avLst>
              <a:gd name="adj" fmla="val 12000"/>
            </a:avLst>
          </a:prstGeom>
          <a:solidFill>
            <a:srgbClr val="1FC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04108" y="2948989"/>
            <a:ext cx="4818888" cy="467820"/>
          </a:xfrm>
          <a:prstGeom prst="rect">
            <a:avLst/>
          </a:prstGeom>
          <a:noFill/>
        </p:spPr>
        <p:txBody>
          <a:bodyPr wrap="square" lIns="45720" tIns="18288" rIns="45720" bIns="18288" anchor="ctr">
            <a:spAutoFit/>
          </a:bodyPr>
          <a:lstStyle/>
          <a:p>
            <a:r>
              <a:rPr lang="en-US" sz="1400" dirty="0">
                <a:solidFill>
                  <a:schemeClr val="bg1"/>
                </a:solidFill>
              </a:rPr>
              <a:t>November has the highest average transaction value, followed by December and October.</a:t>
            </a:r>
          </a:p>
        </p:txBody>
      </p:sp>
      <p:sp>
        <p:nvSpPr>
          <p:cNvPr id="23" name="Rounded Rectangle 22"/>
          <p:cNvSpPr/>
          <p:nvPr/>
        </p:nvSpPr>
        <p:spPr>
          <a:xfrm>
            <a:off x="6272784" y="3845371"/>
            <a:ext cx="82296" cy="82296"/>
          </a:xfrm>
          <a:prstGeom prst="roundRect">
            <a:avLst>
              <a:gd name="adj" fmla="val 12000"/>
            </a:avLst>
          </a:prstGeom>
          <a:solidFill>
            <a:srgbClr val="F2C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04107" y="3764996"/>
            <a:ext cx="4818889" cy="898708"/>
          </a:xfrm>
          <a:prstGeom prst="rect">
            <a:avLst/>
          </a:prstGeom>
          <a:noFill/>
        </p:spPr>
        <p:txBody>
          <a:bodyPr wrap="square" lIns="45720" tIns="18288" rIns="45720" bIns="18288" anchor="ctr">
            <a:spAutoFit/>
          </a:bodyPr>
          <a:lstStyle/>
          <a:p>
            <a:r>
              <a:rPr lang="en-US" sz="1400" b="1" dirty="0">
                <a:solidFill>
                  <a:schemeClr val="bg1"/>
                </a:solidFill>
              </a:rPr>
              <a:t>Recommendation</a:t>
            </a:r>
            <a:r>
              <a:rPr lang="en-US" sz="1400" dirty="0">
                <a:solidFill>
                  <a:schemeClr val="bg1"/>
                </a:solidFill>
              </a:rPr>
              <a:t>: Plan inventory and promotional campaigns ahead of the October–December period. Compare the same months across years before concluding that the pattern repeats consistently.</a:t>
            </a:r>
          </a:p>
        </p:txBody>
      </p:sp>
      <p:sp>
        <p:nvSpPr>
          <p:cNvPr id="28" name="TextBox 27"/>
          <p:cNvSpPr txBox="1"/>
          <p:nvPr/>
        </p:nvSpPr>
        <p:spPr>
          <a:xfrm>
            <a:off x="594360" y="6519672"/>
            <a:ext cx="6400800" cy="182880"/>
          </a:xfrm>
          <a:prstGeom prst="rect">
            <a:avLst/>
          </a:prstGeom>
          <a:noFill/>
        </p:spPr>
        <p:txBody>
          <a:bodyPr wrap="square" lIns="45720" tIns="18288" rIns="45720" bIns="18288" anchor="ctr">
            <a:spAutoFit/>
          </a:bodyPr>
          <a:lstStyle/>
          <a:p>
            <a:pPr algn="l">
              <a:spcAft>
                <a:spcPts val="0"/>
              </a:spcAft>
            </a:pPr>
            <a:r>
              <a:rPr sz="800" b="0" dirty="0">
                <a:solidFill>
                  <a:srgbClr val="ACC4C9"/>
                </a:solidFill>
                <a:latin typeface="Aptos"/>
              </a:rPr>
              <a:t>FASHIONWAVE  •  RETAIL SALES ANALYSIS  •  DASHBOARD-BASED</a:t>
            </a:r>
          </a:p>
        </p:txBody>
      </p:sp>
      <p:sp>
        <p:nvSpPr>
          <p:cNvPr id="29" name="TextBox 28"/>
          <p:cNvSpPr txBox="1"/>
          <p:nvPr/>
        </p:nvSpPr>
        <p:spPr>
          <a:xfrm>
            <a:off x="11109960" y="6492240"/>
            <a:ext cx="502920" cy="201168"/>
          </a:xfrm>
          <a:prstGeom prst="rect">
            <a:avLst/>
          </a:prstGeom>
          <a:noFill/>
        </p:spPr>
        <p:txBody>
          <a:bodyPr wrap="square" lIns="45720" tIns="18288" rIns="45720" bIns="18288" anchor="ctr">
            <a:spAutoFit/>
          </a:bodyPr>
          <a:lstStyle/>
          <a:p>
            <a:pPr algn="r">
              <a:spcAft>
                <a:spcPts val="0"/>
              </a:spcAft>
            </a:pPr>
            <a:r>
              <a:rPr sz="800" b="0">
                <a:solidFill>
                  <a:srgbClr val="ACC4C9"/>
                </a:solidFill>
                <a:latin typeface="Aptos"/>
              </a:rPr>
              <a:t>07/08</a:t>
            </a:r>
          </a:p>
        </p:txBody>
      </p:sp>
      <p:sp>
        <p:nvSpPr>
          <p:cNvPr id="30" name="Rounded Rectangle 29">
            <a:hlinkClick r:id="rId2" action="ppaction://hlinksldjump"/>
          </p:cNvPr>
          <p:cNvSpPr/>
          <p:nvPr/>
        </p:nvSpPr>
        <p:spPr>
          <a:xfrm>
            <a:off x="3657600" y="6144768"/>
            <a:ext cx="960120"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Overview</a:t>
            </a:r>
          </a:p>
        </p:txBody>
      </p:sp>
      <p:sp>
        <p:nvSpPr>
          <p:cNvPr id="31" name="Rounded Rectangle 30">
            <a:hlinkClick r:id="rId3" action="ppaction://hlinksldjump"/>
          </p:cNvPr>
          <p:cNvSpPr/>
          <p:nvPr/>
        </p:nvSpPr>
        <p:spPr>
          <a:xfrm>
            <a:off x="4690872" y="6144768"/>
            <a:ext cx="914400"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Categories</a:t>
            </a:r>
          </a:p>
        </p:txBody>
      </p:sp>
      <p:sp>
        <p:nvSpPr>
          <p:cNvPr id="32" name="Rounded Rectangle 31">
            <a:hlinkClick r:id="rId4" action="ppaction://hlinksldjump"/>
          </p:cNvPr>
          <p:cNvSpPr/>
          <p:nvPr/>
        </p:nvSpPr>
        <p:spPr>
          <a:xfrm>
            <a:off x="5678424" y="6144768"/>
            <a:ext cx="841248"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Weekend</a:t>
            </a:r>
          </a:p>
        </p:txBody>
      </p:sp>
      <p:sp>
        <p:nvSpPr>
          <p:cNvPr id="33" name="Rounded Rectangle 32">
            <a:hlinkClick r:id="rId5" action="ppaction://hlinksldjump"/>
          </p:cNvPr>
          <p:cNvSpPr/>
          <p:nvPr/>
        </p:nvSpPr>
        <p:spPr>
          <a:xfrm>
            <a:off x="6592824" y="6144768"/>
            <a:ext cx="914400"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Discounts</a:t>
            </a:r>
          </a:p>
        </p:txBody>
      </p:sp>
      <p:sp>
        <p:nvSpPr>
          <p:cNvPr id="34" name="Rounded Rectangle 33">
            <a:hlinkClick r:id="rId6" action="ppaction://hlinksldjump"/>
          </p:cNvPr>
          <p:cNvSpPr/>
          <p:nvPr/>
        </p:nvSpPr>
        <p:spPr>
          <a:xfrm>
            <a:off x="7580375" y="6144768"/>
            <a:ext cx="713232"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Stores</a:t>
            </a:r>
          </a:p>
        </p:txBody>
      </p:sp>
      <p:sp>
        <p:nvSpPr>
          <p:cNvPr id="35" name="Rounded Rectangle 34">
            <a:hlinkClick r:id="rId7" action="ppaction://hlinksldjump"/>
          </p:cNvPr>
          <p:cNvSpPr/>
          <p:nvPr/>
        </p:nvSpPr>
        <p:spPr>
          <a:xfrm>
            <a:off x="8366759" y="6144768"/>
            <a:ext cx="960120" cy="310896"/>
          </a:xfrm>
          <a:prstGeom prst="roundRect">
            <a:avLst>
              <a:gd name="adj" fmla="val 12000"/>
            </a:avLst>
          </a:prstGeom>
          <a:solidFill>
            <a:srgbClr val="1FC1B5"/>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051C26"/>
                </a:solidFill>
                <a:latin typeface="Aptos"/>
              </a:rPr>
              <a:t>Customers</a:t>
            </a:r>
          </a:p>
        </p:txBody>
      </p:sp>
      <p:sp>
        <p:nvSpPr>
          <p:cNvPr id="36" name="Rounded Rectangle 35">
            <a:hlinkClick r:id="rId8" action="ppaction://hlinksldjump"/>
          </p:cNvPr>
          <p:cNvSpPr/>
          <p:nvPr/>
        </p:nvSpPr>
        <p:spPr>
          <a:xfrm>
            <a:off x="9400032" y="6144768"/>
            <a:ext cx="749808"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Actions</a:t>
            </a:r>
          </a:p>
        </p:txBody>
      </p:sp>
      <p:pic>
        <p:nvPicPr>
          <p:cNvPr id="38" name="Picture 37">
            <a:extLst>
              <a:ext uri="{FF2B5EF4-FFF2-40B4-BE49-F238E27FC236}">
                <a16:creationId xmlns:a16="http://schemas.microsoft.com/office/drawing/2014/main" id="{F0F4651D-BC76-B26C-92B5-F3A33EF7C16F}"/>
              </a:ext>
            </a:extLst>
          </p:cNvPr>
          <p:cNvPicPr>
            <a:picLocks noChangeAspect="1"/>
          </p:cNvPicPr>
          <p:nvPr/>
        </p:nvPicPr>
        <p:blipFill>
          <a:blip r:embed="rId9"/>
          <a:srcRect t="18892"/>
          <a:stretch>
            <a:fillRect/>
          </a:stretch>
        </p:blipFill>
        <p:spPr>
          <a:xfrm>
            <a:off x="764925" y="2226474"/>
            <a:ext cx="4767194" cy="3077045"/>
          </a:xfrm>
          <a:prstGeom prst="rect">
            <a:avLst/>
          </a:prstGeom>
        </p:spPr>
      </p:pic>
      <p:pic>
        <p:nvPicPr>
          <p:cNvPr id="40" name="Graphic 39" descr="Target">
            <a:extLst>
              <a:ext uri="{FF2B5EF4-FFF2-40B4-BE49-F238E27FC236}">
                <a16:creationId xmlns:a16="http://schemas.microsoft.com/office/drawing/2014/main" id="{5693088D-8139-128B-DAE6-F9B3A3197A6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445226" y="1639520"/>
            <a:ext cx="792482" cy="79248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51C26"/>
        </a:solidFill>
        <a:effectLst/>
      </p:bgPr>
    </p:bg>
    <p:spTree>
      <p:nvGrpSpPr>
        <p:cNvPr id="1" name=""/>
        <p:cNvGrpSpPr/>
        <p:nvPr/>
      </p:nvGrpSpPr>
      <p:grpSpPr>
        <a:xfrm>
          <a:off x="0" y="0"/>
          <a:ext cx="0" cy="0"/>
          <a:chOff x="0" y="0"/>
          <a:chExt cx="0" cy="0"/>
        </a:xfrm>
      </p:grpSpPr>
      <p:sp>
        <p:nvSpPr>
          <p:cNvPr id="3" name="TextBox 2"/>
          <p:cNvSpPr txBox="1"/>
          <p:nvPr/>
        </p:nvSpPr>
        <p:spPr>
          <a:xfrm>
            <a:off x="594360" y="547902"/>
            <a:ext cx="10972800" cy="467820"/>
          </a:xfrm>
          <a:prstGeom prst="rect">
            <a:avLst/>
          </a:prstGeom>
          <a:noFill/>
        </p:spPr>
        <p:txBody>
          <a:bodyPr wrap="square" lIns="45720" tIns="18288" rIns="45720" bIns="18288" anchor="ctr">
            <a:spAutoFit/>
          </a:bodyPr>
          <a:lstStyle/>
          <a:p>
            <a:r>
              <a:rPr lang="en-US" sz="2800" b="1" dirty="0">
                <a:solidFill>
                  <a:schemeClr val="bg1"/>
                </a:solidFill>
              </a:rPr>
              <a:t>Quick wins versus long-term strategies</a:t>
            </a:r>
            <a:endParaRPr sz="2600" b="1" dirty="0">
              <a:solidFill>
                <a:schemeClr val="bg1"/>
              </a:solidFill>
              <a:latin typeface="Aptos"/>
            </a:endParaRPr>
          </a:p>
        </p:txBody>
      </p:sp>
      <p:sp>
        <p:nvSpPr>
          <p:cNvPr id="21" name="Rounded Rectangle 20"/>
          <p:cNvSpPr/>
          <p:nvPr/>
        </p:nvSpPr>
        <p:spPr>
          <a:xfrm>
            <a:off x="696824" y="1079730"/>
            <a:ext cx="5091457" cy="4863870"/>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b="1" dirty="0"/>
          </a:p>
        </p:txBody>
      </p:sp>
      <p:sp>
        <p:nvSpPr>
          <p:cNvPr id="23" name="TextBox 22"/>
          <p:cNvSpPr txBox="1"/>
          <p:nvPr/>
        </p:nvSpPr>
        <p:spPr>
          <a:xfrm>
            <a:off x="594360" y="6519672"/>
            <a:ext cx="6400800" cy="182880"/>
          </a:xfrm>
          <a:prstGeom prst="rect">
            <a:avLst/>
          </a:prstGeom>
          <a:noFill/>
        </p:spPr>
        <p:txBody>
          <a:bodyPr wrap="square" lIns="45720" tIns="18288" rIns="45720" bIns="18288" anchor="ctr">
            <a:spAutoFit/>
          </a:bodyPr>
          <a:lstStyle/>
          <a:p>
            <a:pPr algn="l">
              <a:spcAft>
                <a:spcPts val="0"/>
              </a:spcAft>
            </a:pPr>
            <a:r>
              <a:rPr sz="800" b="0" dirty="0">
                <a:solidFill>
                  <a:srgbClr val="ACC4C9"/>
                </a:solidFill>
                <a:latin typeface="Aptos"/>
              </a:rPr>
              <a:t>FASHIONWAVE  •  RETAIL SALES ANALYSIS  •  DASHBOARD-BASED</a:t>
            </a:r>
          </a:p>
        </p:txBody>
      </p:sp>
      <p:sp>
        <p:nvSpPr>
          <p:cNvPr id="24" name="TextBox 23"/>
          <p:cNvSpPr txBox="1"/>
          <p:nvPr/>
        </p:nvSpPr>
        <p:spPr>
          <a:xfrm>
            <a:off x="11109960" y="6492240"/>
            <a:ext cx="502920" cy="201168"/>
          </a:xfrm>
          <a:prstGeom prst="rect">
            <a:avLst/>
          </a:prstGeom>
          <a:noFill/>
        </p:spPr>
        <p:txBody>
          <a:bodyPr wrap="square" lIns="45720" tIns="18288" rIns="45720" bIns="18288" anchor="ctr">
            <a:spAutoFit/>
          </a:bodyPr>
          <a:lstStyle/>
          <a:p>
            <a:pPr algn="r">
              <a:spcAft>
                <a:spcPts val="0"/>
              </a:spcAft>
            </a:pPr>
            <a:r>
              <a:rPr sz="800" b="0">
                <a:solidFill>
                  <a:srgbClr val="ACC4C9"/>
                </a:solidFill>
                <a:latin typeface="Aptos"/>
              </a:rPr>
              <a:t>08/08</a:t>
            </a:r>
          </a:p>
        </p:txBody>
      </p:sp>
      <p:sp>
        <p:nvSpPr>
          <p:cNvPr id="25" name="Rounded Rectangle 24">
            <a:hlinkClick r:id="rId2" action="ppaction://hlinksldjump"/>
          </p:cNvPr>
          <p:cNvSpPr/>
          <p:nvPr/>
        </p:nvSpPr>
        <p:spPr>
          <a:xfrm>
            <a:off x="3657600" y="6144768"/>
            <a:ext cx="960120"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dirty="0">
                <a:solidFill>
                  <a:srgbClr val="F5F8F8"/>
                </a:solidFill>
                <a:latin typeface="Aptos"/>
              </a:rPr>
              <a:t>Overview</a:t>
            </a:r>
          </a:p>
        </p:txBody>
      </p:sp>
      <p:sp>
        <p:nvSpPr>
          <p:cNvPr id="26" name="Rounded Rectangle 25">
            <a:hlinkClick r:id="rId3" action="ppaction://hlinksldjump"/>
          </p:cNvPr>
          <p:cNvSpPr/>
          <p:nvPr/>
        </p:nvSpPr>
        <p:spPr>
          <a:xfrm>
            <a:off x="4690872" y="6144768"/>
            <a:ext cx="914400"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Categories</a:t>
            </a:r>
          </a:p>
        </p:txBody>
      </p:sp>
      <p:sp>
        <p:nvSpPr>
          <p:cNvPr id="27" name="Rounded Rectangle 26">
            <a:hlinkClick r:id="rId4" action="ppaction://hlinksldjump"/>
          </p:cNvPr>
          <p:cNvSpPr/>
          <p:nvPr/>
        </p:nvSpPr>
        <p:spPr>
          <a:xfrm>
            <a:off x="5678424" y="6144768"/>
            <a:ext cx="841248"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Weekend</a:t>
            </a:r>
          </a:p>
        </p:txBody>
      </p:sp>
      <p:sp>
        <p:nvSpPr>
          <p:cNvPr id="28" name="Rounded Rectangle 27">
            <a:hlinkClick r:id="rId5" action="ppaction://hlinksldjump"/>
          </p:cNvPr>
          <p:cNvSpPr/>
          <p:nvPr/>
        </p:nvSpPr>
        <p:spPr>
          <a:xfrm>
            <a:off x="6592824" y="6144768"/>
            <a:ext cx="914400"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Discounts</a:t>
            </a:r>
          </a:p>
        </p:txBody>
      </p:sp>
      <p:sp>
        <p:nvSpPr>
          <p:cNvPr id="29" name="Rounded Rectangle 28">
            <a:hlinkClick r:id="rId6" action="ppaction://hlinksldjump"/>
          </p:cNvPr>
          <p:cNvSpPr/>
          <p:nvPr/>
        </p:nvSpPr>
        <p:spPr>
          <a:xfrm>
            <a:off x="7580375" y="6144768"/>
            <a:ext cx="713232"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Stores</a:t>
            </a:r>
          </a:p>
        </p:txBody>
      </p:sp>
      <p:sp>
        <p:nvSpPr>
          <p:cNvPr id="30" name="Rounded Rectangle 29">
            <a:hlinkClick r:id="rId7" action="ppaction://hlinksldjump"/>
          </p:cNvPr>
          <p:cNvSpPr/>
          <p:nvPr/>
        </p:nvSpPr>
        <p:spPr>
          <a:xfrm>
            <a:off x="8366759" y="6144768"/>
            <a:ext cx="960120" cy="310896"/>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5F8F8"/>
                </a:solidFill>
                <a:latin typeface="Aptos"/>
              </a:rPr>
              <a:t>Customers</a:t>
            </a:r>
          </a:p>
        </p:txBody>
      </p:sp>
      <p:sp>
        <p:nvSpPr>
          <p:cNvPr id="31" name="Rounded Rectangle 30">
            <a:hlinkClick r:id="rId8" action="ppaction://hlinksldjump"/>
          </p:cNvPr>
          <p:cNvSpPr/>
          <p:nvPr/>
        </p:nvSpPr>
        <p:spPr>
          <a:xfrm>
            <a:off x="9400032" y="6144768"/>
            <a:ext cx="749808" cy="310896"/>
          </a:xfrm>
          <a:prstGeom prst="roundRect">
            <a:avLst>
              <a:gd name="adj" fmla="val 12000"/>
            </a:avLst>
          </a:prstGeom>
          <a:solidFill>
            <a:srgbClr val="1FC1B5"/>
          </a:solidFill>
          <a:ln>
            <a:no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051C26"/>
                </a:solidFill>
                <a:latin typeface="Aptos"/>
              </a:rPr>
              <a:t>Actions</a:t>
            </a:r>
          </a:p>
        </p:txBody>
      </p:sp>
      <p:sp>
        <p:nvSpPr>
          <p:cNvPr id="32" name="Rounded Rectangle 20">
            <a:extLst>
              <a:ext uri="{FF2B5EF4-FFF2-40B4-BE49-F238E27FC236}">
                <a16:creationId xmlns:a16="http://schemas.microsoft.com/office/drawing/2014/main" id="{6D5347B0-C0D7-9CE5-B000-A10AE2F4B7C3}"/>
              </a:ext>
            </a:extLst>
          </p:cNvPr>
          <p:cNvSpPr/>
          <p:nvPr/>
        </p:nvSpPr>
        <p:spPr>
          <a:xfrm>
            <a:off x="6131992" y="1015722"/>
            <a:ext cx="5091457" cy="4863870"/>
          </a:xfrm>
          <a:prstGeom prst="roundRect">
            <a:avLst>
              <a:gd name="adj" fmla="val 12000"/>
            </a:avLst>
          </a:prstGeom>
          <a:solidFill>
            <a:srgbClr val="0E3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3" name="TextBox 32">
            <a:extLst>
              <a:ext uri="{FF2B5EF4-FFF2-40B4-BE49-F238E27FC236}">
                <a16:creationId xmlns:a16="http://schemas.microsoft.com/office/drawing/2014/main" id="{E7E378F5-76DA-3820-8F90-13EFF44F7131}"/>
              </a:ext>
            </a:extLst>
          </p:cNvPr>
          <p:cNvSpPr txBox="1"/>
          <p:nvPr/>
        </p:nvSpPr>
        <p:spPr>
          <a:xfrm>
            <a:off x="1244305" y="1747229"/>
            <a:ext cx="3761572" cy="461665"/>
          </a:xfrm>
          <a:prstGeom prst="rect">
            <a:avLst/>
          </a:prstGeom>
          <a:noFill/>
        </p:spPr>
        <p:txBody>
          <a:bodyPr wrap="square" rtlCol="0">
            <a:spAutoFit/>
          </a:bodyPr>
          <a:lstStyle/>
          <a:p>
            <a:pPr algn="ctr"/>
            <a:r>
              <a:rPr lang="en-US" sz="2400" b="1" dirty="0">
                <a:solidFill>
                  <a:srgbClr val="FFC000"/>
                </a:solidFill>
              </a:rPr>
              <a:t>Quick wins — next 30 days</a:t>
            </a:r>
          </a:p>
        </p:txBody>
      </p:sp>
      <p:sp>
        <p:nvSpPr>
          <p:cNvPr id="36" name="Rectangle 2">
            <a:extLst>
              <a:ext uri="{FF2B5EF4-FFF2-40B4-BE49-F238E27FC236}">
                <a16:creationId xmlns:a16="http://schemas.microsoft.com/office/drawing/2014/main" id="{A46ACCE9-8CBE-36DD-49AE-03CF212EF97C}"/>
              </a:ext>
            </a:extLst>
          </p:cNvPr>
          <p:cNvSpPr>
            <a:spLocks noChangeArrowheads="1"/>
          </p:cNvSpPr>
          <p:nvPr/>
        </p:nvSpPr>
        <p:spPr bwMode="auto">
          <a:xfrm>
            <a:off x="1035087" y="2554134"/>
            <a:ext cx="4426608"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400" b="0" i="0" u="none" strike="noStrike" cap="none" normalizeH="0" baseline="0" dirty="0">
                <a:ln>
                  <a:noFill/>
                </a:ln>
                <a:solidFill>
                  <a:schemeClr val="bg1"/>
                </a:solidFill>
                <a:effectLst/>
                <a:latin typeface="Arial" panose="020B0604020202020204" pitchFamily="34" charset="0"/>
              </a:rPr>
              <a:t>Review 25% and 30% discounts and test smaller offers where margins are under pressure.</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400" b="0" i="0" u="none" strike="noStrike" cap="none" normalizeH="0" baseline="0" dirty="0">
                <a:ln>
                  <a:noFill/>
                </a:ln>
                <a:solidFill>
                  <a:schemeClr val="bg1"/>
                </a:solidFill>
                <a:effectLst/>
                <a:latin typeface="Arial" panose="020B0604020202020204" pitchFamily="34" charset="0"/>
              </a:rPr>
              <a:t>Test weekend bundles and promotions, tracking both net sales and profit.</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400" b="0" i="0" u="none" strike="noStrike" cap="none" normalizeH="0" baseline="0" dirty="0">
                <a:ln>
                  <a:noFill/>
                </a:ln>
                <a:solidFill>
                  <a:schemeClr val="bg1"/>
                </a:solidFill>
                <a:effectLst/>
                <a:latin typeface="Arial" panose="020B0604020202020204" pitchFamily="34" charset="0"/>
              </a:rPr>
              <a:t>Investigate STR037 and STR023 for low sales, and STR027 for low margin.</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400" b="0" i="0" u="none" strike="noStrike" cap="none" normalizeH="0" baseline="0" dirty="0">
                <a:ln>
                  <a:noFill/>
                </a:ln>
                <a:solidFill>
                  <a:schemeClr val="bg1"/>
                </a:solidFill>
                <a:effectLst/>
                <a:latin typeface="Arial" panose="020B0604020202020204" pitchFamily="34" charset="0"/>
              </a:rPr>
              <a:t>Launch targeted retention offers for returning customers and second-purchase incentives for new customers.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400" b="0" i="0" u="none" strike="noStrike" cap="none" normalizeH="0" baseline="0" dirty="0">
                <a:ln>
                  <a:noFill/>
                </a:ln>
                <a:solidFill>
                  <a:schemeClr val="bg1"/>
                </a:solidFill>
                <a:effectLst/>
                <a:latin typeface="Arial" panose="020B0604020202020204" pitchFamily="34" charset="0"/>
              </a:rPr>
              <a:t>Prioritize Accessories availability and investigate the low margin in Clothing.</a:t>
            </a:r>
          </a:p>
        </p:txBody>
      </p:sp>
      <p:sp>
        <p:nvSpPr>
          <p:cNvPr id="37" name="TextBox 36">
            <a:extLst>
              <a:ext uri="{FF2B5EF4-FFF2-40B4-BE49-F238E27FC236}">
                <a16:creationId xmlns:a16="http://schemas.microsoft.com/office/drawing/2014/main" id="{63273CAB-44F7-3E4C-FB31-658A275A24D5}"/>
              </a:ext>
            </a:extLst>
          </p:cNvPr>
          <p:cNvSpPr txBox="1"/>
          <p:nvPr/>
        </p:nvSpPr>
        <p:spPr>
          <a:xfrm>
            <a:off x="6519672" y="1756755"/>
            <a:ext cx="4336477" cy="830997"/>
          </a:xfrm>
          <a:prstGeom prst="rect">
            <a:avLst/>
          </a:prstGeom>
          <a:noFill/>
        </p:spPr>
        <p:txBody>
          <a:bodyPr wrap="square" rtlCol="0">
            <a:spAutoFit/>
          </a:bodyPr>
          <a:lstStyle/>
          <a:p>
            <a:r>
              <a:rPr lang="en-US" sz="2400" b="1" dirty="0">
                <a:solidFill>
                  <a:srgbClr val="FFC000"/>
                </a:solidFill>
              </a:rPr>
              <a:t>Long-term strategies — next 3–6 months</a:t>
            </a:r>
          </a:p>
        </p:txBody>
      </p:sp>
      <p:sp>
        <p:nvSpPr>
          <p:cNvPr id="42" name="Rectangle 6">
            <a:extLst>
              <a:ext uri="{FF2B5EF4-FFF2-40B4-BE49-F238E27FC236}">
                <a16:creationId xmlns:a16="http://schemas.microsoft.com/office/drawing/2014/main" id="{1C168E26-58E4-62F4-B4E5-9B2B5894407A}"/>
              </a:ext>
            </a:extLst>
          </p:cNvPr>
          <p:cNvSpPr>
            <a:spLocks noChangeArrowheads="1"/>
          </p:cNvSpPr>
          <p:nvPr/>
        </p:nvSpPr>
        <p:spPr bwMode="auto">
          <a:xfrm>
            <a:off x="6519672" y="2708199"/>
            <a:ext cx="4426608"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400" b="0" i="0" u="none" strike="noStrike" cap="none" normalizeH="0" baseline="0" dirty="0">
                <a:ln>
                  <a:noFill/>
                </a:ln>
                <a:solidFill>
                  <a:schemeClr val="bg1"/>
                </a:solidFill>
                <a:effectLst/>
                <a:latin typeface="Arial" panose="020B0604020202020204" pitchFamily="34" charset="0"/>
              </a:rPr>
              <a:t>Build a seasonal forecasting process using comparable monthly periods.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400" b="0" i="0" u="none" strike="noStrike" cap="none" normalizeH="0" baseline="0" dirty="0">
                <a:ln>
                  <a:noFill/>
                </a:ln>
                <a:solidFill>
                  <a:schemeClr val="bg1"/>
                </a:solidFill>
                <a:effectLst/>
                <a:latin typeface="Arial" panose="020B0604020202020204" pitchFamily="34" charset="0"/>
              </a:rPr>
              <a:t>Introduce a unique customer ID to enable repeat-purchase, retention and RFM analysis.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400" b="0" i="0" u="none" strike="noStrike" cap="none" normalizeH="0" baseline="0" dirty="0">
                <a:ln>
                  <a:noFill/>
                </a:ln>
                <a:solidFill>
                  <a:schemeClr val="bg1"/>
                </a:solidFill>
                <a:effectLst/>
                <a:latin typeface="Arial" panose="020B0604020202020204" pitchFamily="34" charset="0"/>
              </a:rPr>
              <a:t>Develop store-level benchmarks for net sales, margin and average transaction value.</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400" b="0" i="0" u="none" strike="noStrike" cap="none" normalizeH="0" baseline="0" dirty="0">
                <a:ln>
                  <a:noFill/>
                </a:ln>
                <a:solidFill>
                  <a:schemeClr val="bg1"/>
                </a:solidFill>
                <a:effectLst/>
                <a:latin typeface="Arial" panose="020B0604020202020204" pitchFamily="34" charset="0"/>
              </a:rPr>
              <a:t>Evaluate promotions using incremental profit, not revenue alone.</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400" b="0" i="0" u="none" strike="noStrike" cap="none" normalizeH="0" baseline="0" dirty="0">
                <a:ln>
                  <a:noFill/>
                </a:ln>
                <a:solidFill>
                  <a:schemeClr val="bg1"/>
                </a:solidFill>
                <a:effectLst/>
                <a:latin typeface="Arial" panose="020B0604020202020204" pitchFamily="34" charset="0"/>
              </a:rPr>
              <a:t>Create a Power BI monitoring page with category, store, discount and customer-type filters.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414</TotalTime>
  <Words>820</Words>
  <Application>Microsoft Office PowerPoint</Application>
  <PresentationFormat>Widescreen</PresentationFormat>
  <Paragraphs>151</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FashionWave Interactive Retail Sales Analysis</dc:title>
  <dc:subject>Interactive PowerPoint based on the FashionWave Power BI dashboard</dc:subject>
  <dc:creator>OpenAI</dc:creator>
  <cp:keywords>FashionWave, Power BI, sales analysis, interactive presentation</cp:keywords>
  <dc:description>generated using python-pptx</dc:description>
  <cp:lastModifiedBy>Mansi Sinha</cp:lastModifiedBy>
  <cp:revision>2</cp:revision>
  <dcterms:created xsi:type="dcterms:W3CDTF">2013-01-27T09:14:16Z</dcterms:created>
  <dcterms:modified xsi:type="dcterms:W3CDTF">2026-10-28T17:02:29Z</dcterms:modified>
  <cp:category/>
</cp:coreProperties>
</file>